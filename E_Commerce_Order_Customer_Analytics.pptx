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0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33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3466B8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39980.300000000003</c:v>
                </c:pt>
                <c:pt idx="1">
                  <c:v>51593.55</c:v>
                </c:pt>
                <c:pt idx="2">
                  <c:v>49344.45</c:v>
                </c:pt>
                <c:pt idx="3">
                  <c:v>48113.5</c:v>
                </c:pt>
                <c:pt idx="4">
                  <c:v>54953.45</c:v>
                </c:pt>
                <c:pt idx="5">
                  <c:v>54410.2</c:v>
                </c:pt>
                <c:pt idx="6">
                  <c:v>68669.850000000006</c:v>
                </c:pt>
                <c:pt idx="7">
                  <c:v>26078.3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9FE-482B-BD24-A48A53FEA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288F96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South</c:v>
                </c:pt>
                <c:pt idx="2">
                  <c:v>East</c:v>
                </c:pt>
                <c:pt idx="3">
                  <c:v>North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138824.45000000001</c:v>
                </c:pt>
                <c:pt idx="1">
                  <c:v>112324.5</c:v>
                </c:pt>
                <c:pt idx="2">
                  <c:v>79007</c:v>
                </c:pt>
                <c:pt idx="3">
                  <c:v>62987.65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48-41E9-9C42-A79C781D14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3466B8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Fashion</c:v>
                </c:pt>
                <c:pt idx="2">
                  <c:v>Home &amp; Kitchen</c:v>
                </c:pt>
                <c:pt idx="3">
                  <c:v>Sports</c:v>
                </c:pt>
                <c:pt idx="4">
                  <c:v>Accessories</c:v>
                </c:pt>
                <c:pt idx="5">
                  <c:v>Beauty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140692.1</c:v>
                </c:pt>
                <c:pt idx="1">
                  <c:v>109891.35</c:v>
                </c:pt>
                <c:pt idx="2">
                  <c:v>76566.25</c:v>
                </c:pt>
                <c:pt idx="3">
                  <c:v>30347.599999999999</c:v>
                </c:pt>
                <c:pt idx="4">
                  <c:v>18810.849999999999</c:v>
                </c:pt>
                <c:pt idx="5">
                  <c:v>16835.45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F99-4D20-A65E-9E92AD2BCF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solidFill>
                <a:srgbClr val="3466B8"/>
              </a:solidFill>
            </a:ln>
          </c:spPr>
          <c:cat>
            <c:strRef>
              <c:f>Sheet1!$A$2:$A$9</c:f>
              <c:strCache>
                <c:ptCount val="8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39980.300000000003</c:v>
                </c:pt>
                <c:pt idx="1">
                  <c:v>51593.55</c:v>
                </c:pt>
                <c:pt idx="2">
                  <c:v>49344.45</c:v>
                </c:pt>
                <c:pt idx="3">
                  <c:v>48113.5</c:v>
                </c:pt>
                <c:pt idx="4">
                  <c:v>54953.45</c:v>
                </c:pt>
                <c:pt idx="5">
                  <c:v>54410.2</c:v>
                </c:pt>
                <c:pt idx="6">
                  <c:v>68669.850000000006</c:v>
                </c:pt>
                <c:pt idx="7">
                  <c:v>26078.3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2E-4724-8C1D-3ED3282723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88F96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Fashion</c:v>
                </c:pt>
                <c:pt idx="2">
                  <c:v>Home &amp; Kitchen</c:v>
                </c:pt>
                <c:pt idx="3">
                  <c:v>Sports</c:v>
                </c:pt>
                <c:pt idx="4">
                  <c:v>Accessories</c:v>
                </c:pt>
                <c:pt idx="5">
                  <c:v>Beauty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140692.1</c:v>
                </c:pt>
                <c:pt idx="1">
                  <c:v>109891.35</c:v>
                </c:pt>
                <c:pt idx="2">
                  <c:v>76566.25</c:v>
                </c:pt>
                <c:pt idx="3">
                  <c:v>30347.599999999999</c:v>
                </c:pt>
                <c:pt idx="4">
                  <c:v>18810.849999999999</c:v>
                </c:pt>
                <c:pt idx="5">
                  <c:v>16835.45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CA0-43D6-9D1A-2F45222598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82C69-ADC7-4AE2-A1D5-E4F0CCE5C0C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FD7F0-E838-44B9-8BE6-93D29BAF0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419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FD7F0-E838-44B9-8BE6-93D29BAF0EB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34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66760" y="0"/>
            <a:ext cx="932688" cy="6858000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491472" y="0"/>
            <a:ext cx="932688" cy="6858000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16184" y="0"/>
            <a:ext cx="932688" cy="6858000"/>
          </a:xfrm>
          <a:prstGeom prst="rect">
            <a:avLst/>
          </a:prstGeom>
          <a:solidFill>
            <a:srgbClr val="694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960120"/>
            <a:ext cx="6675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E-COMMERCE ORDER &amp; CUSTOMER
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9968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DAE2ED"/>
                </a:solidFill>
                <a:latin typeface="Aptos"/>
              </a:rPr>
              <a:t>Business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59436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BEC9D9"/>
                </a:solidFill>
                <a:latin typeface="Aptos"/>
              </a:rPr>
              <a:t>Excel-based dashboard, customer insights &amp; business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22208" y="658368"/>
            <a:ext cx="30632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9716ad1-a1c6-42f6-9904-9ac9d8f99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822960"/>
            <a:ext cx="2560320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3105912"/>
            <a:ext cx="6217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FFFFFF"/>
                </a:solidFill>
                <a:latin typeface="Aptos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8328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ptos"/>
              </a:rPr>
              <a:t>Soumya Roy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468" y="5659353"/>
            <a:ext cx="64008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BEC9D9"/>
                </a:solidFill>
                <a:latin typeface="Aptos"/>
              </a:rPr>
              <a:t>E-Commerce Analytics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468" y="5974819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BEC9D9"/>
                </a:solidFill>
                <a:latin typeface="Aptos"/>
              </a:rPr>
              <a:t>Analysis period: January 2026 – August 2026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4C58BC-B90C-8C75-CFB4-125066582AC3}"/>
              </a:ext>
            </a:extLst>
          </p:cNvPr>
          <p:cNvSpPr txBox="1"/>
          <p:nvPr/>
        </p:nvSpPr>
        <p:spPr>
          <a:xfrm>
            <a:off x="696468" y="400401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Aptos"/>
              </a:rPr>
              <a:t>Tuna Santra</a:t>
            </a:r>
            <a:endParaRPr sz="18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DC834D-C6E5-1D68-B865-B31252241924}"/>
              </a:ext>
            </a:extLst>
          </p:cNvPr>
          <p:cNvSpPr txBox="1"/>
          <p:nvPr/>
        </p:nvSpPr>
        <p:spPr>
          <a:xfrm>
            <a:off x="696468" y="4676463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Aptos"/>
              </a:rPr>
              <a:t>Ahili Basu</a:t>
            </a:r>
            <a:endParaRPr sz="18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0D16D8-CCEB-1EDA-0A46-E3F4927BAF45}"/>
              </a:ext>
            </a:extLst>
          </p:cNvPr>
          <p:cNvSpPr txBox="1"/>
          <p:nvPr/>
        </p:nvSpPr>
        <p:spPr>
          <a:xfrm>
            <a:off x="713232" y="3717590"/>
            <a:ext cx="6400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chemeClr val="bg1"/>
                </a:solidFill>
                <a:latin typeface="Aptos"/>
              </a:rPr>
              <a:t>B.Tech</a:t>
            </a:r>
            <a:r>
              <a:rPr sz="1200" b="0" dirty="0">
                <a:solidFill>
                  <a:schemeClr val="bg1"/>
                </a:solidFill>
                <a:latin typeface="Aptos"/>
              </a:rPr>
              <a:t> in Computer Science &amp; Engineering</a:t>
            </a:r>
            <a:r>
              <a:rPr lang="en-US" sz="1200" b="0" dirty="0">
                <a:solidFill>
                  <a:schemeClr val="bg1"/>
                </a:solidFill>
                <a:latin typeface="Aptos"/>
              </a:rPr>
              <a:t>(CSE)</a:t>
            </a:r>
            <a:endParaRPr sz="12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20FE32-2980-5CEA-4B2F-AEEB888CF8DA}"/>
              </a:ext>
            </a:extLst>
          </p:cNvPr>
          <p:cNvSpPr txBox="1"/>
          <p:nvPr/>
        </p:nvSpPr>
        <p:spPr>
          <a:xfrm>
            <a:off x="696468" y="439620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Master of Computer Applications(MCA)</a:t>
            </a:r>
            <a:r>
              <a:rPr lang="en-IN" sz="1200" dirty="0"/>
              <a:t>)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B2C8AA-D476-EE2F-A3B9-0799AE9D0016}"/>
              </a:ext>
            </a:extLst>
          </p:cNvPr>
          <p:cNvSpPr txBox="1"/>
          <p:nvPr/>
        </p:nvSpPr>
        <p:spPr>
          <a:xfrm>
            <a:off x="696468" y="511671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</a:rPr>
              <a:t>B.Tech</a:t>
            </a:r>
            <a:r>
              <a:rPr lang="en-IN" sz="1200" dirty="0">
                <a:solidFill>
                  <a:schemeClr val="bg1"/>
                </a:solidFill>
              </a:rPr>
              <a:t> in Electronics and Communication Engineering (ECE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Structure of the complete analytics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078992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110995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069848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Background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1609343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641347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600199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Objectives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2139696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171700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30552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Dataset Description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2670048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702052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660904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Methodology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3200400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232404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191256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Excel Dashboard KPI Snapshot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3730752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762756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721608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KPI Scorecard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4261103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293107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51959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Revenue &amp; Order Trend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" y="4791455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823459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782312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Regional Performance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" y="5321807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5353812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312664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Category &amp; Product Analysis</a:t>
            </a:r>
          </a:p>
        </p:txBody>
      </p:sp>
      <p:sp>
        <p:nvSpPr>
          <p:cNvPr id="35" name="Oval 34"/>
          <p:cNvSpPr/>
          <p:nvPr/>
        </p:nvSpPr>
        <p:spPr>
          <a:xfrm>
            <a:off x="6217920" y="1078992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0" y="1110995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069848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Customer Segment Analysis</a:t>
            </a:r>
          </a:p>
        </p:txBody>
      </p:sp>
      <p:sp>
        <p:nvSpPr>
          <p:cNvPr id="38" name="Oval 37"/>
          <p:cNvSpPr/>
          <p:nvPr/>
        </p:nvSpPr>
        <p:spPr>
          <a:xfrm>
            <a:off x="6217920" y="1609343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1641347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1600199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Order Health &amp; Payment Mix</a:t>
            </a:r>
          </a:p>
        </p:txBody>
      </p:sp>
      <p:sp>
        <p:nvSpPr>
          <p:cNvPr id="41" name="Oval 40"/>
          <p:cNvSpPr/>
          <p:nvPr/>
        </p:nvSpPr>
        <p:spPr>
          <a:xfrm>
            <a:off x="6217920" y="2139696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0" y="2171700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2130552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Customer Demographics</a:t>
            </a:r>
          </a:p>
        </p:txBody>
      </p:sp>
      <p:sp>
        <p:nvSpPr>
          <p:cNvPr id="44" name="Oval 43"/>
          <p:cNvSpPr/>
          <p:nvPr/>
        </p:nvSpPr>
        <p:spPr>
          <a:xfrm>
            <a:off x="6217920" y="2670048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0" y="2702052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2660904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Dashboard Insights</a:t>
            </a:r>
          </a:p>
        </p:txBody>
      </p:sp>
      <p:sp>
        <p:nvSpPr>
          <p:cNvPr id="47" name="Oval 46"/>
          <p:cNvSpPr/>
          <p:nvPr/>
        </p:nvSpPr>
        <p:spPr>
          <a:xfrm>
            <a:off x="6217920" y="3200400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17920" y="3232404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3191256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Recommendations</a:t>
            </a:r>
          </a:p>
        </p:txBody>
      </p:sp>
      <p:sp>
        <p:nvSpPr>
          <p:cNvPr id="50" name="Oval 49"/>
          <p:cNvSpPr/>
          <p:nvPr/>
        </p:nvSpPr>
        <p:spPr>
          <a:xfrm>
            <a:off x="6217920" y="3730752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17920" y="3762756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3721608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Conclusion</a:t>
            </a:r>
          </a:p>
        </p:txBody>
      </p:sp>
      <p:sp>
        <p:nvSpPr>
          <p:cNvPr id="53" name="Oval 52"/>
          <p:cNvSpPr/>
          <p:nvPr/>
        </p:nvSpPr>
        <p:spPr>
          <a:xfrm>
            <a:off x="6217920" y="4261103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17920" y="4293107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4251959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Future Scope</a:t>
            </a:r>
          </a:p>
        </p:txBody>
      </p:sp>
      <p:sp>
        <p:nvSpPr>
          <p:cNvPr id="56" name="Oval 55"/>
          <p:cNvSpPr/>
          <p:nvPr/>
        </p:nvSpPr>
        <p:spPr>
          <a:xfrm>
            <a:off x="6217920" y="4791455"/>
            <a:ext cx="274320" cy="274320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17920" y="4823459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4782312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03B49"/>
                </a:solidFill>
                <a:latin typeface="Aptos"/>
              </a:rPr>
              <a:t>Data Source &amp; Definitions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Why the supplied e-commerce workbook is useful for business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E-commerce transaction data contains information about orders, customers, products, geography, payments, discounts, and order outcomes.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A structured analytics model converts these raw fields into management KPIs and comparisons that are easier to interpret.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The workbook contains a Dashboard, CLEAN_Data, RAW_DATA, Backend, and Data_Dictionary structure, supporting both analysis and presentation.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Regional, category, product, segment, payment, and order-status views help identify where revenue is concentrated and where operational attention is required.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The analysis in this presentation uses the updated workbook as the primary source rather than introducing external assumptions.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Project objectives aligned with the updated Excel workbook.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Measure total orders, customers, quantity sold, gross sales, discount amount, net revenue, average order value, and average rating.</a:t>
            </a:r>
          </a:p>
          <a:p>
            <a:pPr>
              <a:spcAft>
                <a:spcPts val="13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Analyse revenue by month, region, category, product, customer segment, and payment method.</a:t>
            </a:r>
          </a:p>
          <a:p>
            <a:pPr>
              <a:spcAft>
                <a:spcPts val="13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Evaluate order outcomes across Delivered, Returned, Cancelled, and Pending statuses.</a:t>
            </a:r>
          </a:p>
          <a:p>
            <a:pPr>
              <a:spcAft>
                <a:spcPts val="13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Identify customer and geographic patterns that can support targeted business decisions.</a:t>
            </a:r>
          </a:p>
          <a:p>
            <a:pPr>
              <a:spcAft>
                <a:spcPts val="13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Convert the workbook's analytical outputs into clear management insights and practical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The updated workbook contains 100 transaction records and a structured analytics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188720"/>
          <a:ext cx="109728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Workbook Area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Purpose / Content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Dashboard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Executive KPI presentation: net revenue, orders, customers, quantity, AOV and average rating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CLEAN_Data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100 cleaned transaction records with 22 business fields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RAW_DATA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Original/raw transaction representation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Backend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Pivot-style summaries supporting dashboard analysis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Data_Dictionary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rPr dirty="0"/>
                        <a:t>Definitions for all 22 transaction columns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Analysis Period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04 January 2026 – 20 August 2026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Records / 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100 records / 100 unique 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Customers / Quantity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rPr dirty="0"/>
                        <a:t>20 customers / 257 units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Updated Excel data → validation → KPIs → analysis → recommendations.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2487168" cy="1389888"/>
          </a:xfrm>
          <a:prstGeom prst="roundRect">
            <a:avLst/>
          </a:prstGeom>
          <a:solidFill>
            <a:srgbClr val="EEF5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2648" y="1344168"/>
            <a:ext cx="301752" cy="301752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389888"/>
            <a:ext cx="3017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37160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11F31"/>
                </a:solidFill>
                <a:latin typeface="Aptos"/>
              </a:rPr>
              <a:t>Source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80136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303B49"/>
                </a:solidFill>
                <a:latin typeface="Aptos"/>
              </a:rPr>
              <a:t>CLEAN_Data + Dashboard +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234440"/>
            <a:ext cx="2487168" cy="1389888"/>
          </a:xfrm>
          <a:prstGeom prst="roundRect">
            <a:avLst/>
          </a:prstGeom>
          <a:solidFill>
            <a:srgbClr val="EEF5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93008" y="1344168"/>
            <a:ext cx="301752" cy="301752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8" y="1389888"/>
            <a:ext cx="3017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137160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11F31"/>
                </a:solidFill>
                <a:latin typeface="Aptos"/>
              </a:rPr>
              <a:t>Data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180136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303B49"/>
                </a:solidFill>
                <a:latin typeface="Aptos"/>
              </a:rPr>
              <a:t>Dates, categories, statuses &amp; measures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234440"/>
            <a:ext cx="2487168" cy="1389888"/>
          </a:xfrm>
          <a:prstGeom prst="roundRect">
            <a:avLst/>
          </a:prstGeom>
          <a:solidFill>
            <a:srgbClr val="EEF5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73368" y="1344168"/>
            <a:ext cx="301752" cy="301752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1389888"/>
            <a:ext cx="3017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7" y="137160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11F31"/>
                </a:solidFill>
                <a:latin typeface="Aptos"/>
              </a:rPr>
              <a:t>KPI Calculation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180136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303B49"/>
                </a:solidFill>
                <a:latin typeface="Aptos"/>
              </a:rPr>
              <a:t>Orders, customers, revenue, AOV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234440"/>
            <a:ext cx="2487168" cy="1389888"/>
          </a:xfrm>
          <a:prstGeom prst="roundRect">
            <a:avLst/>
          </a:prstGeom>
          <a:solidFill>
            <a:srgbClr val="EEF5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53728" y="1344168"/>
            <a:ext cx="301752" cy="301752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53728" y="1389888"/>
            <a:ext cx="3017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8" y="137160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11F31"/>
                </a:solidFill>
                <a:latin typeface="Aptos"/>
              </a:rPr>
              <a:t>Trend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180136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303B49"/>
                </a:solidFill>
                <a:latin typeface="Aptos"/>
              </a:rPr>
              <a:t>Monthly revenue and order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154680"/>
            <a:ext cx="2487168" cy="1389888"/>
          </a:xfrm>
          <a:prstGeom prst="roundRect">
            <a:avLst/>
          </a:prstGeom>
          <a:solidFill>
            <a:srgbClr val="EEF5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12648" y="3264408"/>
            <a:ext cx="301752" cy="301752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3310128"/>
            <a:ext cx="3017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329184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11F31"/>
                </a:solidFill>
                <a:latin typeface="Aptos"/>
              </a:rPr>
              <a:t>Segmentation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372160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303B49"/>
                </a:solidFill>
                <a:latin typeface="Aptos"/>
              </a:rPr>
              <a:t>Region, category, product, segment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3154680"/>
            <a:ext cx="2487168" cy="1389888"/>
          </a:xfrm>
          <a:prstGeom prst="roundRect">
            <a:avLst/>
          </a:prstGeom>
          <a:solidFill>
            <a:srgbClr val="EEF5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93008" y="3264408"/>
            <a:ext cx="301752" cy="301752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93008" y="3310128"/>
            <a:ext cx="3017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8768" y="329184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11F31"/>
                </a:solidFill>
                <a:latin typeface="Aptos"/>
              </a:rPr>
              <a:t>Operations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7872" y="372160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303B49"/>
                </a:solidFill>
                <a:latin typeface="Aptos"/>
              </a:rPr>
              <a:t>Delivery, return, cancellation, pending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3154680"/>
            <a:ext cx="2487168" cy="1389888"/>
          </a:xfrm>
          <a:prstGeom prst="roundRect">
            <a:avLst/>
          </a:prstGeom>
          <a:solidFill>
            <a:srgbClr val="EEF5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73368" y="3264408"/>
            <a:ext cx="301752" cy="301752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73368" y="3310128"/>
            <a:ext cx="3017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9127" y="329184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11F31"/>
                </a:solidFill>
                <a:latin typeface="Aptos"/>
              </a:rPr>
              <a:t>Customer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1" y="372160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303B49"/>
                </a:solidFill>
                <a:latin typeface="Aptos"/>
              </a:rPr>
              <a:t>Gender, age, repeat orders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3154680"/>
            <a:ext cx="2487168" cy="1389888"/>
          </a:xfrm>
          <a:prstGeom prst="roundRect">
            <a:avLst/>
          </a:prstGeom>
          <a:solidFill>
            <a:srgbClr val="EEF5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253728" y="3264408"/>
            <a:ext cx="301752" cy="301752"/>
          </a:xfrm>
          <a:prstGeom prst="ellipse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53728" y="3310128"/>
            <a:ext cx="3017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19488" y="329184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11F31"/>
                </a:solidFill>
                <a:latin typeface="Aptos"/>
              </a:rPr>
              <a:t>Decision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08592" y="372160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303B49"/>
                </a:solidFill>
                <a:latin typeface="Aptos"/>
              </a:rPr>
              <a:t>Insights, priorities &amp; recommendations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376672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77280"/>
                </a:solidFill>
                <a:latin typeface="Aptos"/>
              </a:rPr>
              <a:t>Data Dictionary definition used for Net Revenue: Gross Sales − Discount Amount + Shipping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Excel Dashboard —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These are the headline values displayed in the updated workbook's Dashboard sheet.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33832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54864" cy="1508760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362456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Net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61848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₹393,144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039112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Dashboard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34440"/>
            <a:ext cx="33832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234440"/>
            <a:ext cx="54864" cy="1508760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362456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Total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61848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039112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Unique order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234440"/>
            <a:ext cx="33832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234440"/>
            <a:ext cx="54864" cy="1508760"/>
          </a:xfrm>
          <a:prstGeom prst="rect">
            <a:avLst/>
          </a:prstGeom>
          <a:solidFill>
            <a:srgbClr val="694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1" y="1362456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161848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039112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Unique customers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154680"/>
            <a:ext cx="33832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3154680"/>
            <a:ext cx="54864" cy="1508760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282696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Quantity Sold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257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959352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Units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154680"/>
            <a:ext cx="33832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43400" y="3154680"/>
            <a:ext cx="54864" cy="1508760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07992" y="3282696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Average Order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353872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₹3,931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3959352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Net revenue / order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154680"/>
            <a:ext cx="33832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92440" y="3154680"/>
            <a:ext cx="54864" cy="1508760"/>
          </a:xfrm>
          <a:prstGeom prst="rect">
            <a:avLst/>
          </a:prstGeom>
          <a:solidFill>
            <a:srgbClr val="D58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57031" y="3282696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Average Rating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353872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3.98/5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3959352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Customer rating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3766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677280"/>
                </a:solidFill>
                <a:latin typeface="Aptos"/>
              </a:rPr>
              <a:t>The updated workbook Dashboard also visually labels the key measures as TOTAL ORDERS, CUSTOMERS, QUANTITY SOLD, AVERAGE ORDER VALUE and AVG RATING.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KPI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Complete commercial and operational measures calculated from the updated workbook.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097280"/>
          <a:ext cx="1097280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460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Calculation / Meaning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Gross Sales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₹429,243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Sum of Gross Sales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Discount Amount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₹43,649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Sum of Discount Amount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Net 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₹393,144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Gross Sales − Discount Amount + Shipping Cost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Shipping Cost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₹7,550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Sum of Shipping Cost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Unique Order IDs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Customers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Unique Customer IDs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Quantity Sold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257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Sum of Quantity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Average Order Value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₹3,931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Net Revenue ÷ Orders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Average Rating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3.98/5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Mean Rating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461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Discount Rate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10.2%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Discount Amount ÷ Gross Sales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Revenue &amp; Order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Monthly net revenue and order volume from January through August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143000"/>
          <a:ext cx="69494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26679" y="1188720"/>
          <a:ext cx="3703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Month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2026-01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₹39,980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2026-02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₹51,594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2026-03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₹49,344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2026-04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₹48,114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2026-05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₹54,953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2026-06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₹54,410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2026-07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₹68,670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2026-08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₹26,078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" y="5806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303B49"/>
                </a:solidFill>
                <a:latin typeface="Aptos"/>
              </a:defRPr>
            </a:pPr>
            <a:r>
              <a:t>• Highest monthly net revenue: 2026-07 at ₹68,670.</a:t>
            </a:r>
          </a:p>
          <a:p>
            <a:pPr>
              <a:spcAft>
                <a:spcPts val="400"/>
              </a:spcAft>
              <a:defRPr sz="1050">
                <a:solidFill>
                  <a:srgbClr val="303B49"/>
                </a:solidFill>
                <a:latin typeface="Aptos"/>
              </a:defRPr>
            </a:pPr>
            <a:r>
              <a:t>• August records the lowest monthly revenue in the available eight-month extract.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Regional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Net revenue distribution across East, North, South and West.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143000"/>
          <a:ext cx="58064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37960" y="1188720"/>
          <a:ext cx="43891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Share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West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33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₹138,824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35.3%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South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₹112,324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28.6%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East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₹79,007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20.1%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North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₹62,988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16.0%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29400" y="47548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303B49"/>
                </a:solidFill>
                <a:latin typeface="Aptos"/>
              </a:defRPr>
            </a:pPr>
            <a:r>
              <a:t>• West is the leading region at ₹138,824 (35.3%).</a:t>
            </a:r>
          </a:p>
          <a:p>
            <a:pPr>
              <a:spcAft>
                <a:spcPts val="500"/>
              </a:spcAft>
              <a:defRPr sz="1050">
                <a:solidFill>
                  <a:srgbClr val="303B49"/>
                </a:solidFill>
                <a:latin typeface="Aptos"/>
              </a:defRPr>
            </a:pPr>
            <a:r>
              <a:t>• West + South account for 63.9% of net revenue.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Category &amp; Product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Revenue concentration by category and leading individual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143000"/>
          <a:ext cx="57150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1188720"/>
          <a:ext cx="493775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Top Product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Smart Watch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₹72,413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Running Shoes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₹69,559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Coffee Maker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₹62,439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Wireless Headphones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₹40,074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Yoga Mat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₹30,348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Denim Jeans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₹29,722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37960" y="4919472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303B49"/>
                </a:solidFill>
                <a:latin typeface="Aptos"/>
              </a:defRPr>
            </a:pPr>
            <a:r>
              <a:t>• Electronics leads categories at ₹140,692.</a:t>
            </a:r>
          </a:p>
          <a:p>
            <a:pPr>
              <a:spcAft>
                <a:spcPts val="500"/>
              </a:spcAft>
              <a:defRPr sz="1050">
                <a:solidFill>
                  <a:srgbClr val="303B49"/>
                </a:solidFill>
                <a:latin typeface="Aptos"/>
              </a:defRPr>
            </a:pPr>
            <a:r>
              <a:t>• Smart Watch is the top product at ₹72,413.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Customer Segment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Revenue contribution from Loyal, New and Regular customers.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53492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58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Segment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Share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Loyal Customer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41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₹141,180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35.9%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New Customer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34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₹138,473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35.2%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Regular Customer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₹113,491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28.9%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57200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Loyal Customer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4608576"/>
            <a:ext cx="2788920" cy="16459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48840" y="4608576"/>
            <a:ext cx="1001514" cy="164592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456285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11F31"/>
                </a:solidFill>
                <a:latin typeface="Aptos"/>
              </a:rPr>
              <a:t>36%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New Customer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5111496"/>
            <a:ext cx="2788920" cy="16459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48840" y="5111496"/>
            <a:ext cx="982312" cy="164592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506577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11F31"/>
                </a:solidFill>
                <a:latin typeface="Aptos"/>
              </a:rPr>
              <a:t>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Regular Customer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5614416"/>
            <a:ext cx="2788920" cy="16459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48840" y="5614416"/>
            <a:ext cx="805093" cy="164592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556869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11F31"/>
                </a:solidFill>
                <a:latin typeface="Aptos"/>
              </a:rPr>
              <a:t>29%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188720"/>
            <a:ext cx="498348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150876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F31"/>
                </a:solidFill>
                <a:latin typeface="Aptos"/>
              </a:rPr>
              <a:t>Repeat-purchase finding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874519"/>
            <a:ext cx="4251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03B49"/>
                </a:solidFill>
                <a:latin typeface="Aptos"/>
              </a:defRPr>
            </a:pPr>
            <a:r>
              <a:t>• 20 of 20 customers placed 2+ orders (100%).</a:t>
            </a:r>
          </a:p>
          <a:p>
            <a:pPr>
              <a:spcAft>
                <a:spcPts val="800"/>
              </a:spcAft>
              <a:defRPr sz="1100">
                <a:solidFill>
                  <a:srgbClr val="303B49"/>
                </a:solidFill>
                <a:latin typeface="Aptos"/>
              </a:defRPr>
            </a:pPr>
            <a:r>
              <a:t>• Loyal customers contribute 35.9% of net revenue.</a:t>
            </a:r>
          </a:p>
          <a:p>
            <a:pPr>
              <a:spcAft>
                <a:spcPts val="800"/>
              </a:spcAft>
              <a:defRPr sz="1100">
                <a:solidFill>
                  <a:srgbClr val="303B49"/>
                </a:solidFill>
                <a:latin typeface="Aptos"/>
              </a:defRPr>
            </a:pPr>
            <a:r>
              <a:t>• New customers contribute 35.2% of net revenue.</a:t>
            </a:r>
          </a:p>
          <a:p>
            <a:pPr>
              <a:spcAft>
                <a:spcPts val="800"/>
              </a:spcAft>
              <a:defRPr sz="1100">
                <a:solidFill>
                  <a:srgbClr val="303B49"/>
                </a:solidFill>
                <a:latin typeface="Aptos"/>
              </a:defRPr>
            </a:pPr>
            <a:r>
              <a:t>• Both retention and conversion of new customers are therefore relevant to revenue.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Order Health &amp; Payment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Operational status and payment-channel performance in the updated workbook.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50292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Share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Delivered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83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83%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₹316,616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Returned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6%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₹30,602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Cancelled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4%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₹14,159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Pending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7%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₹31,766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188720"/>
          <a:ext cx="52578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Payment Method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Cash on Delivery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26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₹104,677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Debit Card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₹91,010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UPI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₹72,229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Credit Card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₹68,680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Net Banking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17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₹56,547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4800600"/>
            <a:ext cx="24688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800600"/>
            <a:ext cx="54864" cy="1143000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492861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Delivered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18464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60527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83% of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4800600"/>
            <a:ext cx="24688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46120" y="4800600"/>
            <a:ext cx="54864" cy="1143000"/>
          </a:xfrm>
          <a:prstGeom prst="rect">
            <a:avLst/>
          </a:prstGeom>
          <a:solidFill>
            <a:srgbClr val="D58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10712" y="492861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Returned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518464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560527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800600"/>
            <a:ext cx="24688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0" y="4800600"/>
            <a:ext cx="54864" cy="1143000"/>
          </a:xfrm>
          <a:prstGeom prst="rect">
            <a:avLst/>
          </a:prstGeom>
          <a:solidFill>
            <a:srgbClr val="BE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9631" y="492861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Cancelled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1" y="518464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1" y="560527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59" y="4800600"/>
            <a:ext cx="24688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23959" y="4800600"/>
            <a:ext cx="54864" cy="1143000"/>
          </a:xfrm>
          <a:prstGeom prst="rect">
            <a:avLst/>
          </a:prstGeom>
          <a:solidFill>
            <a:srgbClr val="D58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88551" y="492861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Pending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1" y="518464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8551" y="560527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7%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Customer Demographics &amp; 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Additional customer-level patterns available in the updated dataset.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24688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188720"/>
            <a:ext cx="54864" cy="1417320"/>
          </a:xfrm>
          <a:prstGeom prst="rect">
            <a:avLst/>
          </a:prstGeom>
          <a:solidFill>
            <a:srgbClr val="694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31673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Female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57276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₹216,667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9339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55.1% of net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39" y="1188720"/>
            <a:ext cx="24688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39" y="1188720"/>
            <a:ext cx="54864" cy="1417320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56432" y="131673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Male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57276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₹176,477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199339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44.9% of net revenue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59" y="1188720"/>
            <a:ext cx="24688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59" y="1188720"/>
            <a:ext cx="54864" cy="1417320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5351" y="131673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Average Customer 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1" y="157276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32.7 yrs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1" y="199339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Range 21–45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188720"/>
            <a:ext cx="24688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69680" y="1188720"/>
            <a:ext cx="54864" cy="1417320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34272" y="131673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Average 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157276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3.98/5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199339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280"/>
                </a:solidFill>
                <a:latin typeface="Aptos"/>
              </a:rPr>
              <a:t>Across order records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2920" y="3063240"/>
          <a:ext cx="50292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Top State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Maharashtra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₹105,771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West Bengal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₹79,007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Telangana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₹43,412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Karnataka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₹41,926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Gujarat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₹33,053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172200" y="31089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303B49"/>
                </a:solidFill>
                <a:latin typeface="Aptos"/>
              </a:defRPr>
            </a:pPr>
            <a:r>
              <a:t>• Female customers account for the larger revenue share in this dataset.</a:t>
            </a:r>
          </a:p>
          <a:p>
            <a:pPr>
              <a:spcAft>
                <a:spcPts val="900"/>
              </a:spcAft>
              <a:defRPr sz="1150">
                <a:solidFill>
                  <a:srgbClr val="303B49"/>
                </a:solidFill>
                <a:latin typeface="Aptos"/>
              </a:defRPr>
            </a:pPr>
            <a:r>
              <a:t>• Customer ages span 21–45 years, with an average age of 32.7 years.</a:t>
            </a:r>
          </a:p>
          <a:p>
            <a:pPr>
              <a:spcAft>
                <a:spcPts val="900"/>
              </a:spcAft>
              <a:defRPr sz="1150">
                <a:solidFill>
                  <a:srgbClr val="303B49"/>
                </a:solidFill>
                <a:latin typeface="Aptos"/>
              </a:defRPr>
            </a:pPr>
            <a:r>
              <a:t>• Top-state performance can be used to support localized campaign and fulfilment planning.</a:t>
            </a:r>
          </a:p>
          <a:p>
            <a:pPr>
              <a:spcAft>
                <a:spcPts val="900"/>
              </a:spcAft>
              <a:defRPr sz="1150">
                <a:solidFill>
                  <a:srgbClr val="303B49"/>
                </a:solidFill>
                <a:latin typeface="Aptos"/>
              </a:defRPr>
            </a:pPr>
            <a:r>
              <a:t>• These are descriptive findings from the supplied records, not causal conclusions.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Dashboard — Management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A compact executive view built from the workbook's headline metrics.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2468880" cy="117043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54864" cy="1170432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225295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Net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48132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₹393,144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39" y="1097280"/>
            <a:ext cx="2468880" cy="117043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39" y="1097280"/>
            <a:ext cx="54864" cy="1170432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56432" y="1225295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48132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9" y="1097280"/>
            <a:ext cx="2468880" cy="117043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59" y="1097280"/>
            <a:ext cx="54864" cy="1170432"/>
          </a:xfrm>
          <a:prstGeom prst="rect">
            <a:avLst/>
          </a:prstGeom>
          <a:solidFill>
            <a:srgbClr val="694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1" y="1225295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1" y="148132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097280"/>
            <a:ext cx="2468880" cy="117043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9680" y="1097280"/>
            <a:ext cx="54864" cy="1170432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34272" y="1225295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3B49"/>
                </a:solidFill>
                <a:latin typeface="Aptos"/>
              </a:rPr>
              <a:t>AOV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148132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F31"/>
                </a:solidFill>
                <a:latin typeface="Aptos"/>
              </a:rPr>
              <a:t>₹3,931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02920" y="2606040"/>
          <a:ext cx="5257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080760" y="2606040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Business findings directly supported by the updated workbook.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20">
                <a:solidFill>
                  <a:srgbClr val="303B49"/>
                </a:solidFill>
                <a:latin typeface="Aptos"/>
              </a:defRPr>
            </a:pPr>
            <a:r>
              <a:t>• Net revenue is ₹393,144 from 100 orders, with an average order value of ₹3,931.</a:t>
            </a:r>
          </a:p>
          <a:p>
            <a:pPr>
              <a:spcAft>
                <a:spcPts val="1000"/>
              </a:spcAft>
              <a:defRPr sz="1320">
                <a:solidFill>
                  <a:srgbClr val="303B49"/>
                </a:solidFill>
                <a:latin typeface="Aptos"/>
              </a:defRPr>
            </a:pPr>
            <a:r>
              <a:t>• West is the largest revenue region at ₹138,824, while South is second at ₹112,324.</a:t>
            </a:r>
          </a:p>
          <a:p>
            <a:pPr>
              <a:spcAft>
                <a:spcPts val="1000"/>
              </a:spcAft>
              <a:defRPr sz="1320">
                <a:solidFill>
                  <a:srgbClr val="303B49"/>
                </a:solidFill>
                <a:latin typeface="Aptos"/>
              </a:defRPr>
            </a:pPr>
            <a:r>
              <a:t>• Electronics is the highest-revenue category at ₹140,692.</a:t>
            </a:r>
          </a:p>
          <a:p>
            <a:pPr>
              <a:spcAft>
                <a:spcPts val="1000"/>
              </a:spcAft>
              <a:defRPr sz="1320">
                <a:solidFill>
                  <a:srgbClr val="303B49"/>
                </a:solidFill>
                <a:latin typeface="Aptos"/>
              </a:defRPr>
            </a:pPr>
            <a:r>
              <a:t>• Smart Watch is the highest-revenue product at ₹72,413.</a:t>
            </a:r>
          </a:p>
          <a:p>
            <a:pPr>
              <a:spcAft>
                <a:spcPts val="1000"/>
              </a:spcAft>
              <a:defRPr sz="1320">
                <a:solidFill>
                  <a:srgbClr val="303B49"/>
                </a:solidFill>
                <a:latin typeface="Aptos"/>
              </a:defRPr>
            </a:pPr>
            <a:r>
              <a:t>• 100% of customers placed at least two orders in the available dataset.</a:t>
            </a:r>
          </a:p>
          <a:p>
            <a:pPr>
              <a:spcAft>
                <a:spcPts val="1000"/>
              </a:spcAft>
              <a:defRPr sz="1320">
                <a:solidFill>
                  <a:srgbClr val="303B49"/>
                </a:solidFill>
                <a:latin typeface="Aptos"/>
              </a:defRPr>
            </a:pPr>
            <a:r>
              <a:t>• Delivered orders represent 83%; returns, cancellations and pending orders remain measurable operational outcomes.</a:t>
            </a:r>
          </a:p>
          <a:p>
            <a:pPr>
              <a:spcAft>
                <a:spcPts val="1000"/>
              </a:spcAft>
              <a:defRPr sz="1320">
                <a:solidFill>
                  <a:srgbClr val="303B49"/>
                </a:solidFill>
                <a:latin typeface="Aptos"/>
              </a:defRPr>
            </a:pPr>
            <a:r>
              <a:t>• Discounts total ₹43,649, equal to 10.2% of gross sales.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Priority actions based on the actual observed patterns.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106424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2801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66B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197864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11F31"/>
                </a:solidFill>
                <a:latin typeface="Aptos"/>
              </a:rPr>
              <a:t>Protect leading regions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197864"/>
            <a:ext cx="6217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3B49"/>
                </a:solidFill>
                <a:latin typeface="Aptos"/>
              </a:rPr>
              <a:t>Maintain strong fulfilment and availability in West and South while evaluating growth opportunities in East and North.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271016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88F96"/>
                </a:solidFill>
                <a:latin typeface="Aptos"/>
              </a:rPr>
              <a:t>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57400"/>
            <a:ext cx="1106424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22402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66B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157984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11F31"/>
                </a:solidFill>
                <a:latin typeface="Aptos"/>
              </a:rPr>
              <a:t>Scale high-value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157984"/>
            <a:ext cx="6217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3B49"/>
                </a:solidFill>
                <a:latin typeface="Aptos"/>
              </a:rPr>
              <a:t>Prioritise Electronics and Fashion merchandising, with focus on leading products such as Smart Watch and Running Shoes.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231136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88F96"/>
                </a:solidFill>
                <a:latin typeface="Aptos"/>
              </a:rPr>
              <a:t>Commercial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17520"/>
            <a:ext cx="1106424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32004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66B8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118103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11F31"/>
                </a:solidFill>
                <a:latin typeface="Aptos"/>
              </a:rPr>
              <a:t>Convert new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118103"/>
            <a:ext cx="6217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3B49"/>
                </a:solidFill>
                <a:latin typeface="Aptos"/>
              </a:rPr>
              <a:t>Use onboarding, second-order incentives and loyalty communication to move new customers toward repeat purchase.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3191256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88F96"/>
                </a:solidFill>
                <a:latin typeface="Aptos"/>
              </a:rPr>
              <a:t>CRM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77639"/>
            <a:ext cx="1106424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4160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66B8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078224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11F31"/>
                </a:solidFill>
                <a:latin typeface="Aptos"/>
              </a:rPr>
              <a:t>Reduce operational leakage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078224"/>
            <a:ext cx="6217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3B49"/>
                </a:solidFill>
                <a:latin typeface="Aptos"/>
              </a:rPr>
              <a:t>Review reasons for returns and cancellations and manage pending orders to improve customer experience.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151376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88F96"/>
                </a:solidFill>
                <a:latin typeface="Aptos"/>
              </a:rPr>
              <a:t>Operations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37759"/>
            <a:ext cx="1106424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51206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66B8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038344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11F31"/>
                </a:solidFill>
                <a:latin typeface="Aptos"/>
              </a:rPr>
              <a:t>Improve discount 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038344"/>
            <a:ext cx="6217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3B49"/>
                </a:solidFill>
                <a:latin typeface="Aptos"/>
              </a:rPr>
              <a:t>Track the 10.2% discount rate by category, segment and order value to balance volume and revenue.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5111496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88F96"/>
                </a:solidFill>
                <a:latin typeface="Aptos"/>
              </a:rPr>
              <a:t>Finance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Overall interpretation of the updated Excel analytics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78992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The updated workbook provides a structured e-commerce analytics model covering 100 orders, 20 customers and 257 units.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The headline Dashboard KPI is ₹393,144 net revenue, with ₹3,931 average order value and 3.98/5 average rating.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Regional and category views clearly show where revenue is concentrated.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Customer-segment analysis shows strong repeat purchasing within the available customer records.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Order-status analysis identifies delivered performance alongside return, cancellation and pending-order opportunities.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The workbook is suitable as a repeatable Excel dashboard framework when new transactions are added and the backend/dashboard calculations are refreshed.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Potential extensions to the current Excel analytics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77280"/>
                </a:solidFill>
                <a:latin typeface="Apto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78992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Automate the dashboard refresh when new transaction records are added.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Add customer lifetime value, cohort retention and customer acquisition analysis.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Introduce profitability metrics such as gross margin and contribution margin when cost data are available.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Add product-level and regional drill-downs with interactive filters.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Extend the time series beyond the current January–August 2026 extract for more robust forecasting.</a:t>
            </a:r>
          </a:p>
          <a:p>
            <a:pPr>
              <a:spcAft>
                <a:spcPts val="1200"/>
              </a:spcAft>
              <a:defRPr sz="1350">
                <a:solidFill>
                  <a:srgbClr val="303B49"/>
                </a:solidFill>
                <a:latin typeface="Aptos"/>
              </a:defRPr>
            </a:pPr>
            <a:r>
              <a:t>• Connect the workbook to Power BI for interactive executive reporting.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F31"/>
                </a:solidFill>
                <a:latin typeface="Aptos"/>
              </a:rPr>
              <a:t>Data Source &amp;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77280"/>
                </a:solidFill>
                <a:latin typeface="Aptos"/>
              </a:rPr>
              <a:t>Definitions taken from the updated workbook's Data_Dictionary sheet.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37376"/>
            <a:ext cx="1106424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dirty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 dirty="0">
                <a:solidFill>
                  <a:srgbClr val="677280"/>
                </a:solidFill>
                <a:latin typeface="Aptos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960120"/>
          <a:ext cx="1106424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7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Column / KPI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Definition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Order ID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Unique order number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Order Date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Date of order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Customer ID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Unique customer number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Geographical region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Product / Category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Purchased product and product category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Quantity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Number of units purchased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Discount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Discount percentage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Shipping Cost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Shipping charge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Order Status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Current order status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Customer Segment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Customer type / segment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Gross Sales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Quantity × Unit Price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Discount Amount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Gross Sales × Discount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Net 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Gross Sales − Discount Amount + Shipping Cost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t>AOV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03B49"/>
                          </a:solidFill>
                          <a:latin typeface="Aptos"/>
                        </a:defRPr>
                      </a:pPr>
                      <a:r>
                        <a:rPr dirty="0"/>
                        <a:t>Net Revenue ÷ unique orders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2993C4-ECC2-066A-E076-D8C0154B5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740033"/>
            <a:ext cx="11201400" cy="50274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049E89-A7A2-F4F0-2701-2F7FC79688D6}"/>
              </a:ext>
            </a:extLst>
          </p:cNvPr>
          <p:cNvSpPr txBox="1"/>
          <p:nvPr/>
        </p:nvSpPr>
        <p:spPr>
          <a:xfrm>
            <a:off x="3124200" y="17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📊 E-Commerce Order &amp; Customer Analytics 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47F640-0584-C1D2-C60D-2BAA91106645}"/>
              </a:ext>
            </a:extLst>
          </p:cNvPr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7789AC-2C60-2815-A4C6-E530D60A7EE8}"/>
              </a:ext>
            </a:extLst>
          </p:cNvPr>
          <p:cNvSpPr txBox="1"/>
          <p:nvPr/>
        </p:nvSpPr>
        <p:spPr>
          <a:xfrm>
            <a:off x="751114" y="5812831"/>
            <a:ext cx="1084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Executive dashboard presenting key sales, customer, product, regional, and operational performance metrics.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CCDE4-677A-EDD3-1580-7E18B3D05DE7}"/>
              </a:ext>
            </a:extLst>
          </p:cNvPr>
          <p:cNvSpPr txBox="1"/>
          <p:nvPr/>
        </p:nvSpPr>
        <p:spPr>
          <a:xfrm>
            <a:off x="2416475" y="6077217"/>
            <a:ext cx="73587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b="1" dirty="0">
                <a:latin typeface="+mn-lt"/>
              </a:rPr>
              <a:t>Source: E-Commerce Transaction Dataset | Analysis Period: January–August 2026</a:t>
            </a:r>
            <a:endParaRPr lang="en-IN" b="1" dirty="0">
              <a:latin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F3855C-2C93-3D77-76CA-54970C12AC8E}"/>
              </a:ext>
            </a:extLst>
          </p:cNvPr>
          <p:cNvSpPr txBox="1"/>
          <p:nvPr/>
        </p:nvSpPr>
        <p:spPr>
          <a:xfrm>
            <a:off x="1381804" y="5068642"/>
            <a:ext cx="9580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The dashboard consolidates e-commerce performance into actionable insights across revenue, customers, products, regions, and order operations, supporting data-driven business decisions</a:t>
            </a:r>
            <a:r>
              <a:rPr lang="en-IN" dirty="0"/>
              <a:t>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991571-4086-2AA9-02B1-E162BCDD50DE}"/>
              </a:ext>
            </a:extLst>
          </p:cNvPr>
          <p:cNvSpPr txBox="1"/>
          <p:nvPr/>
        </p:nvSpPr>
        <p:spPr>
          <a:xfrm>
            <a:off x="465328" y="6574536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dirty="0">
                <a:solidFill>
                  <a:srgbClr val="677280"/>
                </a:solidFill>
                <a:latin typeface="Aptos"/>
              </a:rPr>
              <a:t>E-Commerce Order &amp; Customer Analytics | Source: updated Excel workbook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F46F6-DF27-C008-CD2D-FF2031F7C402}"/>
              </a:ext>
            </a:extLst>
          </p:cNvPr>
          <p:cNvSpPr txBox="1"/>
          <p:nvPr/>
        </p:nvSpPr>
        <p:spPr>
          <a:xfrm>
            <a:off x="11018520" y="6473952"/>
            <a:ext cx="41148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 dirty="0">
                <a:solidFill>
                  <a:srgbClr val="677280"/>
                </a:solidFill>
                <a:latin typeface="Aptos"/>
              </a:rPr>
              <a:t>2</a:t>
            </a:r>
            <a:r>
              <a:rPr lang="en-US" sz="750" b="1" dirty="0">
                <a:solidFill>
                  <a:srgbClr val="677280"/>
                </a:solidFill>
                <a:latin typeface="Aptos"/>
              </a:rPr>
              <a:t>1</a:t>
            </a:r>
            <a:endParaRPr sz="750" b="1" dirty="0">
              <a:solidFill>
                <a:srgbClr val="67728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21775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66760" y="0"/>
            <a:ext cx="932688" cy="6858000"/>
          </a:xfrm>
          <a:prstGeom prst="rect">
            <a:avLst/>
          </a:prstGeom>
          <a:solidFill>
            <a:srgbClr val="346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491472" y="0"/>
            <a:ext cx="932688" cy="6858000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16184" y="0"/>
            <a:ext cx="932688" cy="6858000"/>
          </a:xfrm>
          <a:prstGeom prst="rect">
            <a:avLst/>
          </a:prstGeom>
          <a:solidFill>
            <a:srgbClr val="694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6675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E-COMMERCE ORDER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583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54787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3DEEC"/>
                </a:solidFill>
                <a:latin typeface="Aptos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285232"/>
            <a:ext cx="6400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BEC9D9"/>
                </a:solidFill>
                <a:latin typeface="Aptos"/>
              </a:rPr>
              <a:t>100 orders • 20 customers • 257 units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22208" y="4343400"/>
            <a:ext cx="30632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9716ad1-a1c6-42f6-9904-9ac9d8f99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507992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2150</Words>
  <Application>Microsoft Office PowerPoint</Application>
  <PresentationFormat>Widescreen</PresentationFormat>
  <Paragraphs>503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Soumya Roy</cp:lastModifiedBy>
  <cp:revision>5</cp:revision>
  <dcterms:created xsi:type="dcterms:W3CDTF">2013-01-27T09:14:16Z</dcterms:created>
  <dcterms:modified xsi:type="dcterms:W3CDTF">2026-09-02T05:33:55Z</dcterms:modified>
  <cp:category/>
</cp:coreProperties>
</file>
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3" r:id="rId19"/>
    <p:sldId id="276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58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NA" userId="48516848d7dfa3e2" providerId="LiveId" clId="{BDC5C816-69C6-4F02-8B11-A5E8B9A540AE}"/>
    <pc:docChg chg="custSel addSld delSld modSld sldOrd">
      <pc:chgData name="TUNA" userId="48516848d7dfa3e2" providerId="LiveId" clId="{BDC5C816-69C6-4F02-8B11-A5E8B9A540AE}" dt="2026-09-02T07:54:05.383" v="22" actId="27636"/>
      <pc:docMkLst>
        <pc:docMk/>
      </pc:docMkLst>
      <pc:sldChg chg="ord">
        <pc:chgData name="TUNA" userId="48516848d7dfa3e2" providerId="LiveId" clId="{BDC5C816-69C6-4F02-8B11-A5E8B9A540AE}" dt="2026-09-02T07:49:00.272" v="1"/>
        <pc:sldMkLst>
          <pc:docMk/>
          <pc:sldMk cId="0" sldId="273"/>
        </pc:sldMkLst>
      </pc:sldChg>
      <pc:sldChg chg="addSp delSp modSp new del mod">
        <pc:chgData name="TUNA" userId="48516848d7dfa3e2" providerId="LiveId" clId="{BDC5C816-69C6-4F02-8B11-A5E8B9A540AE}" dt="2026-09-02T07:52:46.613" v="13" actId="47"/>
        <pc:sldMkLst>
          <pc:docMk/>
          <pc:sldMk cId="3064111929" sldId="276"/>
        </pc:sldMkLst>
        <pc:spChg chg="add del mod">
          <ac:chgData name="TUNA" userId="48516848d7dfa3e2" providerId="LiveId" clId="{BDC5C816-69C6-4F02-8B11-A5E8B9A540AE}" dt="2026-09-02T07:50:59.682" v="6"/>
          <ac:spMkLst>
            <pc:docMk/>
            <pc:sldMk cId="3064111929" sldId="276"/>
            <ac:spMk id="4" creationId="{457BCDDA-61B9-4E5A-9253-116532B14D1A}"/>
          </ac:spMkLst>
        </pc:spChg>
        <pc:spChg chg="add del mod">
          <ac:chgData name="TUNA" userId="48516848d7dfa3e2" providerId="LiveId" clId="{BDC5C816-69C6-4F02-8B11-A5E8B9A540AE}" dt="2026-09-02T07:51:54.580" v="10"/>
          <ac:spMkLst>
            <pc:docMk/>
            <pc:sldMk cId="3064111929" sldId="276"/>
            <ac:spMk id="6" creationId="{F1B09F7D-04A2-439C-8764-8DB42D1A96B7}"/>
          </ac:spMkLst>
        </pc:spChg>
        <pc:picChg chg="add del mod">
          <ac:chgData name="TUNA" userId="48516848d7dfa3e2" providerId="LiveId" clId="{BDC5C816-69C6-4F02-8B11-A5E8B9A540AE}" dt="2026-09-02T07:52:39.268" v="12" actId="21"/>
          <ac:picMkLst>
            <pc:docMk/>
            <pc:sldMk cId="3064111929" sldId="276"/>
            <ac:picMk id="3" creationId="{66BD58A4-EBA6-4137-B35F-0BE1DC9B54CE}"/>
          </ac:picMkLst>
        </pc:picChg>
      </pc:sldChg>
      <pc:sldChg chg="addSp delSp modSp new mod">
        <pc:chgData name="TUNA" userId="48516848d7dfa3e2" providerId="LiveId" clId="{BDC5C816-69C6-4F02-8B11-A5E8B9A540AE}" dt="2026-09-02T07:54:05.383" v="22" actId="27636"/>
        <pc:sldMkLst>
          <pc:docMk/>
          <pc:sldMk cId="4248482825" sldId="276"/>
        </pc:sldMkLst>
        <pc:spChg chg="mod">
          <ac:chgData name="TUNA" userId="48516848d7dfa3e2" providerId="LiveId" clId="{BDC5C816-69C6-4F02-8B11-A5E8B9A540AE}" dt="2026-09-02T07:54:05.383" v="22" actId="27636"/>
          <ac:spMkLst>
            <pc:docMk/>
            <pc:sldMk cId="4248482825" sldId="276"/>
            <ac:spMk id="2" creationId="{6BF579CF-54CB-4D86-8DAE-D0C4C99AB53C}"/>
          </ac:spMkLst>
        </pc:spChg>
        <pc:spChg chg="del">
          <ac:chgData name="TUNA" userId="48516848d7dfa3e2" providerId="LiveId" clId="{BDC5C816-69C6-4F02-8B11-A5E8B9A540AE}" dt="2026-09-02T07:53:01.005" v="15"/>
          <ac:spMkLst>
            <pc:docMk/>
            <pc:sldMk cId="4248482825" sldId="276"/>
            <ac:spMk id="3" creationId="{73393437-555F-4263-A00B-80D4F07EDDA8}"/>
          </ac:spMkLst>
        </pc:spChg>
        <pc:picChg chg="add mod">
          <ac:chgData name="TUNA" userId="48516848d7dfa3e2" providerId="LiveId" clId="{BDC5C816-69C6-4F02-8B11-A5E8B9A540AE}" dt="2026-09-02T07:53:17.159" v="18" actId="14100"/>
          <ac:picMkLst>
            <pc:docMk/>
            <pc:sldMk cId="4248482825" sldId="276"/>
            <ac:picMk id="4" creationId="{2FD77DAC-DDA6-4CCD-B698-B0226266A89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3667B8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39980</c:v>
                </c:pt>
                <c:pt idx="1">
                  <c:v>51594</c:v>
                </c:pt>
                <c:pt idx="2">
                  <c:v>49344</c:v>
                </c:pt>
                <c:pt idx="3">
                  <c:v>48114</c:v>
                </c:pt>
                <c:pt idx="4">
                  <c:v>54953</c:v>
                </c:pt>
                <c:pt idx="5">
                  <c:v>54410</c:v>
                </c:pt>
                <c:pt idx="6">
                  <c:v>68670</c:v>
                </c:pt>
                <c:pt idx="7">
                  <c:v>26078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8F0-4275-9146-3C386290E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288F9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South</c:v>
                </c:pt>
                <c:pt idx="2">
                  <c:v>East</c:v>
                </c:pt>
                <c:pt idx="3">
                  <c:v>North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138824</c:v>
                </c:pt>
                <c:pt idx="1">
                  <c:v>112324</c:v>
                </c:pt>
                <c:pt idx="2">
                  <c:v>79007</c:v>
                </c:pt>
                <c:pt idx="3">
                  <c:v>62988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8FA-4DF2-8FFB-4C4937E573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3667B8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Kitchen</c:v>
                </c:pt>
                <c:pt idx="3">
                  <c:v>Sports</c:v>
                </c:pt>
                <c:pt idx="4">
                  <c:v>Accessories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140692</c:v>
                </c:pt>
                <c:pt idx="1">
                  <c:v>109891</c:v>
                </c:pt>
                <c:pt idx="2">
                  <c:v>76566</c:v>
                </c:pt>
                <c:pt idx="3">
                  <c:v>30348</c:v>
                </c:pt>
                <c:pt idx="4">
                  <c:v>18811</c:v>
                </c:pt>
                <c:pt idx="5">
                  <c:v>16835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2E4-4097-BE44-961010D36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3667B8"/>
              </a:solidFill>
            </a:ln>
          </c:spPr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39980</c:v>
                </c:pt>
                <c:pt idx="1">
                  <c:v>51594</c:v>
                </c:pt>
                <c:pt idx="2">
                  <c:v>49344</c:v>
                </c:pt>
                <c:pt idx="3">
                  <c:v>48114</c:v>
                </c:pt>
                <c:pt idx="4">
                  <c:v>54953</c:v>
                </c:pt>
                <c:pt idx="5">
                  <c:v>54410</c:v>
                </c:pt>
                <c:pt idx="6">
                  <c:v>68670</c:v>
                </c:pt>
                <c:pt idx="7">
                  <c:v>26078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99-4649-B4C8-AD293B7A7F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88F9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Fashion</c:v>
                </c:pt>
                <c:pt idx="2">
                  <c:v>Home &amp; Kitchen</c:v>
                </c:pt>
                <c:pt idx="3">
                  <c:v>Sports</c:v>
                </c:pt>
                <c:pt idx="4">
                  <c:v>Accessories</c:v>
                </c:pt>
                <c:pt idx="5">
                  <c:v>Beauty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140692</c:v>
                </c:pt>
                <c:pt idx="1">
                  <c:v>109891</c:v>
                </c:pt>
                <c:pt idx="2">
                  <c:v>76566</c:v>
                </c:pt>
                <c:pt idx="3">
                  <c:v>30348</c:v>
                </c:pt>
                <c:pt idx="4">
                  <c:v>18811</c:v>
                </c:pt>
                <c:pt idx="5">
                  <c:v>16835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E0E-4F56-94D3-731C97A6C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932688" cy="685800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91472" y="0"/>
            <a:ext cx="932688" cy="6858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16184" y="0"/>
            <a:ext cx="932688" cy="6858000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715975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Aptos"/>
              </a:rPr>
              <a:t>E-COMMERCE ORDER &amp; CUSTOMER
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1" y="2482594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chemeClr val="bg1"/>
                </a:solidFill>
                <a:latin typeface="Aptos"/>
              </a:rPr>
              <a:t>Business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1" y="2850623"/>
            <a:ext cx="5943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chemeClr val="bg1"/>
                </a:solidFill>
                <a:latin typeface="Aptos"/>
              </a:rPr>
              <a:t>Executive dashboard and decision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84702"/>
            <a:ext cx="640080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dirty="0">
                <a:solidFill>
                  <a:srgbClr val="BDC8D7"/>
                </a:solidFill>
                <a:latin typeface="+mj-lt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997662"/>
            <a:ext cx="641908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Soumya Roy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346802"/>
            <a:ext cx="6400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E-Commerce Analytics </a:t>
            </a:r>
            <a:r>
              <a:rPr sz="1200" b="0" dirty="0">
                <a:solidFill>
                  <a:schemeClr val="bg1"/>
                </a:solidFill>
                <a:latin typeface="Aptos"/>
              </a:rPr>
              <a:t>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549777"/>
            <a:ext cx="64008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>
                <a:solidFill>
                  <a:schemeClr val="bg1"/>
                </a:solidFill>
                <a:latin typeface="Aptos"/>
              </a:rPr>
              <a:t>100 orders • 20 customers • 257 units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6E4B3-B629-EB97-119E-6B9063CF6524}"/>
              </a:ext>
            </a:extLst>
          </p:cNvPr>
          <p:cNvSpPr txBox="1"/>
          <p:nvPr/>
        </p:nvSpPr>
        <p:spPr>
          <a:xfrm>
            <a:off x="713232" y="4386395"/>
            <a:ext cx="641908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rgbClr val="FFFFFF"/>
                </a:solidFill>
                <a:latin typeface="Aptos"/>
              </a:rPr>
              <a:t>Ahili Basu</a:t>
            </a:r>
          </a:p>
          <a:p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0D5D79-DF07-79E9-2A85-7089A94D318A}"/>
              </a:ext>
            </a:extLst>
          </p:cNvPr>
          <p:cNvSpPr txBox="1"/>
          <p:nvPr/>
        </p:nvSpPr>
        <p:spPr>
          <a:xfrm>
            <a:off x="713232" y="4727622"/>
            <a:ext cx="641908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rgbClr val="FFFFFF"/>
                </a:solidFill>
                <a:latin typeface="Aptos"/>
              </a:rPr>
              <a:t>Tuna Santra</a:t>
            </a:r>
            <a:endParaRPr lang="en-IN" sz="1600" b="1" dirty="0">
              <a:solidFill>
                <a:schemeClr val="bg1"/>
              </a:solidFill>
              <a:latin typeface="Aptos"/>
            </a:endParaRPr>
          </a:p>
          <a:p>
            <a:endParaRPr sz="16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7C88F6-58ED-4C4C-99F7-4BBCCEEB9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781" y="0"/>
            <a:ext cx="2374011" cy="990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A concise view of commercial performance, customer mix, and operational health.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0352" y="1207008"/>
            <a:ext cx="59436" cy="126187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After discounts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6704" y="1207008"/>
            <a:ext cx="59436" cy="126187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Transaction volume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056" y="1207008"/>
            <a:ext cx="59436" cy="1261872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5936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Avg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Revenue /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1207008"/>
            <a:ext cx="2514600" cy="126187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79408" y="1207008"/>
            <a:ext cx="59436" cy="126187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2288" y="1353312"/>
            <a:ext cx="22402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Delivery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161848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83%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20391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Delivered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85292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F31"/>
                </a:solidFill>
                <a:latin typeface="Aptos"/>
              </a:rPr>
              <a:t>What the data says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2461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West is the largest revenue region at ₹138,824 (35.3% of net revenue).</a:t>
            </a:r>
          </a:p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Electronics leads categories with ₹140,692 in net revenue.</a:t>
            </a:r>
          </a:p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Loyal customers generate ₹141,180; new customers generate ₹138,473.</a:t>
            </a:r>
          </a:p>
          <a:p>
            <a:pPr>
              <a:spcAft>
                <a:spcPts val="600"/>
              </a:spcAft>
              <a:defRPr sz="1150">
                <a:solidFill>
                  <a:srgbClr val="313B49"/>
                </a:solidFill>
                <a:latin typeface="Aptos"/>
              </a:defRPr>
            </a:pPr>
            <a:r>
              <a:t>• Returned + cancelled orders represent 10% of orders, creating an operational improvement opportunity.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834640"/>
            <a:ext cx="5440680" cy="256032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12724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1"/>
                </a:solidFill>
                <a:latin typeface="Aptos"/>
              </a:rPr>
              <a:t>Management priorities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93008"/>
            <a:ext cx="4617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Protect West momentum while improving lower-performing regions.</a:t>
            </a:r>
          </a:p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Use Electronics and Fashion as core growth engines.</a:t>
            </a:r>
          </a:p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Convert new customers into repeat buyers through targeted retention.</a:t>
            </a:r>
          </a:p>
          <a:p>
            <a:pPr>
              <a:spcAft>
                <a:spcPts val="600"/>
              </a:spcAft>
              <a:defRPr sz="1070">
                <a:solidFill>
                  <a:srgbClr val="313B49"/>
                </a:solidFill>
                <a:latin typeface="Aptos"/>
              </a:defRPr>
            </a:pPr>
            <a:r>
              <a:t>• Reduce returns/cancellations and resolve pending orders faster.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188720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70432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Background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755648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322576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5000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04288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Dataset Description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889504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916936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71216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Methodology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456432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48386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38144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KPI Scorecard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4023360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05079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05072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Revenue &amp; Order Trend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590288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6177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572000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Regional Performance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5157216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18464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38928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Category &amp; Product Analysis</a:t>
            </a:r>
          </a:p>
        </p:txBody>
      </p:sp>
      <p:sp>
        <p:nvSpPr>
          <p:cNvPr id="31" name="Oval 30"/>
          <p:cNvSpPr/>
          <p:nvPr/>
        </p:nvSpPr>
        <p:spPr>
          <a:xfrm>
            <a:off x="6217920" y="1188720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12161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170432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Customer Segment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1737360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313B49"/>
                </a:solidFill>
                <a:latin typeface="Aptos"/>
              </a:rPr>
              <a:t>Order Health &amp; Payment Mix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304288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Dashboard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2871216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313B49"/>
                </a:solidFill>
                <a:latin typeface="Aptos"/>
              </a:rPr>
              <a:t>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48386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438144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Conclusion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4032730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14</a:t>
            </a:r>
            <a:endParaRPr sz="800" dirty="0"/>
          </a:p>
        </p:txBody>
      </p:sp>
      <p:sp>
        <p:nvSpPr>
          <p:cNvPr id="48" name="TextBox 47"/>
          <p:cNvSpPr txBox="1"/>
          <p:nvPr/>
        </p:nvSpPr>
        <p:spPr>
          <a:xfrm>
            <a:off x="6629400" y="4005072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313B49"/>
                </a:solidFill>
                <a:latin typeface="Aptos"/>
              </a:rPr>
              <a:t>Future 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6177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4572000"/>
            <a:ext cx="4709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13B49"/>
                </a:solidFill>
                <a:latin typeface="Aptos"/>
              </a:rPr>
              <a:t>Data Source &amp; Definitions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7850418-C5DD-8B96-44AD-132C23269AD0}"/>
              </a:ext>
            </a:extLst>
          </p:cNvPr>
          <p:cNvSpPr/>
          <p:nvPr/>
        </p:nvSpPr>
        <p:spPr>
          <a:xfrm>
            <a:off x="6217920" y="4544568"/>
            <a:ext cx="274320" cy="28369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15</a:t>
            </a:r>
            <a:endParaRPr sz="8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BF70E7B-021A-B097-ADAE-17659E42979A}"/>
              </a:ext>
            </a:extLst>
          </p:cNvPr>
          <p:cNvSpPr/>
          <p:nvPr/>
        </p:nvSpPr>
        <p:spPr>
          <a:xfrm>
            <a:off x="6217920" y="3465802"/>
            <a:ext cx="274320" cy="274094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13</a:t>
            </a:r>
            <a:endParaRPr sz="8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9A5055A-01A1-1CC0-DCB0-06C61BAA3E60}"/>
              </a:ext>
            </a:extLst>
          </p:cNvPr>
          <p:cNvSpPr/>
          <p:nvPr/>
        </p:nvSpPr>
        <p:spPr>
          <a:xfrm>
            <a:off x="6217920" y="2898874"/>
            <a:ext cx="274320" cy="26495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12</a:t>
            </a:r>
            <a:endParaRPr sz="800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3903476-5A42-C567-6F2D-F0BC1940F9A5}"/>
              </a:ext>
            </a:extLst>
          </p:cNvPr>
          <p:cNvSpPr/>
          <p:nvPr/>
        </p:nvSpPr>
        <p:spPr>
          <a:xfrm>
            <a:off x="6217920" y="2322576"/>
            <a:ext cx="274320" cy="274320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11</a:t>
            </a:r>
            <a:endParaRPr sz="800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2840484-C4D1-88E5-FA4F-92C157CDF988}"/>
              </a:ext>
            </a:extLst>
          </p:cNvPr>
          <p:cNvSpPr/>
          <p:nvPr/>
        </p:nvSpPr>
        <p:spPr>
          <a:xfrm>
            <a:off x="6217920" y="1746504"/>
            <a:ext cx="274320" cy="283464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10</a:t>
            </a:r>
            <a:endParaRPr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Why structured e-commerce analytics is important for business decision-making.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744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E-commerce businesses generate large volumes of order and customer data that can be transformed into measurable business intelligence.</a:t>
            </a:r>
          </a:p>
          <a:p>
            <a:pPr>
              <a:spcAft>
                <a:spcPts val="11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A consolidated analytical view makes it easier to evaluate sales performance, customer behaviour, and operational efficiency.</a:t>
            </a:r>
          </a:p>
          <a:p>
            <a:pPr>
              <a:spcAft>
                <a:spcPts val="11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Regional, category, product, customer-segment, and payment analysis reveals where revenue is concentrated and where improvement opportunities exist.</a:t>
            </a:r>
          </a:p>
          <a:p>
            <a:pPr>
              <a:spcAft>
                <a:spcPts val="11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Order-status analysis is essential because delivered, returned, cancelled, and pending orders directly affect customer experience and realised revenue.</a:t>
            </a:r>
          </a:p>
          <a:p>
            <a:pPr>
              <a:spcAft>
                <a:spcPts val="11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supplied workbook provides a practical transaction-level foundation for an Excel-based analytics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Key objectives of the e-commerce order and customer analytics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7442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Analyse order-level transaction data and establish a reliable KPI scorecard.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Measure net revenue, gross sales, order volume, units sold, average order value, discounting, and customer ratings.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Identify high-performing regions, categories, products, customer segments, and payment methods.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Evaluate delivery, return, cancellation, and pending-order patterns to identify operational leakage.</a:t>
            </a:r>
          </a:p>
          <a:p>
            <a:pPr>
              <a:spcAft>
                <a:spcPts val="13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Convert analytical findings into actionable recommendations for revenue growth, customer retention, and operational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Structure of the supplied Raw_Data sheet.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8872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Data Area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Fields / Measures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Order Information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Order ID, Order Date, Order Status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 Information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 ID, Customer Name, Gender, Age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Geography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City, State, Region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Product, Category, Quantity, Unit Price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Commercial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Discount, Shipping Cost, Gross Sales, 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Transaction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Payment Method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 Experience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Rating, Customer Segment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Dataset Size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100 records • 100 orders • 20 customers • 257 units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Transaction data → KPIs → segmentation → dashboard →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4475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56231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Raw order records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1435607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47218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2588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44475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856231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Dates &amp; field consistency</a:t>
            </a:r>
          </a:p>
        </p:txBody>
      </p:sp>
      <p:sp>
        <p:nvSpPr>
          <p:cNvPr id="16" name="Oval 15"/>
          <p:cNvSpPr/>
          <p:nvPr/>
        </p:nvSpPr>
        <p:spPr>
          <a:xfrm>
            <a:off x="3493008" y="1435607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147218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32588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44475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KPI Calculation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1856231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Revenue, orders, AOV</a:t>
            </a:r>
          </a:p>
        </p:txBody>
      </p:sp>
      <p:sp>
        <p:nvSpPr>
          <p:cNvPr id="21" name="Oval 20"/>
          <p:cNvSpPr/>
          <p:nvPr/>
        </p:nvSpPr>
        <p:spPr>
          <a:xfrm>
            <a:off x="6373368" y="1435607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147218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32588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60" y="144475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Segmentation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1856231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Region, category, segment</a:t>
            </a:r>
          </a:p>
        </p:txBody>
      </p:sp>
      <p:sp>
        <p:nvSpPr>
          <p:cNvPr id="26" name="Oval 25"/>
          <p:cNvSpPr/>
          <p:nvPr/>
        </p:nvSpPr>
        <p:spPr>
          <a:xfrm>
            <a:off x="9253728" y="1435607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53728" y="147218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20040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319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Trend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37307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Monthly revenue &amp; orders</a:t>
            </a:r>
          </a:p>
        </p:txBody>
      </p:sp>
      <p:sp>
        <p:nvSpPr>
          <p:cNvPr id="31" name="Oval 30"/>
          <p:cNvSpPr/>
          <p:nvPr/>
        </p:nvSpPr>
        <p:spPr>
          <a:xfrm>
            <a:off x="612648" y="3310128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" y="334670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320040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20440" y="3319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37307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Delivery, returns, cancellations</a:t>
            </a:r>
          </a:p>
        </p:txBody>
      </p:sp>
      <p:sp>
        <p:nvSpPr>
          <p:cNvPr id="36" name="Oval 35"/>
          <p:cNvSpPr/>
          <p:nvPr/>
        </p:nvSpPr>
        <p:spPr>
          <a:xfrm>
            <a:off x="3493008" y="3310128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93008" y="334670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20040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319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28231" y="37307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KPIs, charts &amp; tables</a:t>
            </a:r>
          </a:p>
        </p:txBody>
      </p:sp>
      <p:sp>
        <p:nvSpPr>
          <p:cNvPr id="41" name="Oval 40"/>
          <p:cNvSpPr/>
          <p:nvPr/>
        </p:nvSpPr>
        <p:spPr>
          <a:xfrm>
            <a:off x="6373368" y="3310128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73368" y="334670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200400"/>
            <a:ext cx="251460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60" y="3319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F31"/>
                </a:solidFill>
                <a:latin typeface="Aptos"/>
              </a:rPr>
              <a:t>Insights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373075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313B49"/>
                </a:solidFill>
                <a:latin typeface="Aptos"/>
              </a:rPr>
              <a:t>Priorities &amp; actions</a:t>
            </a:r>
          </a:p>
        </p:txBody>
      </p:sp>
      <p:sp>
        <p:nvSpPr>
          <p:cNvPr id="46" name="Oval 45"/>
          <p:cNvSpPr/>
          <p:nvPr/>
        </p:nvSpPr>
        <p:spPr>
          <a:xfrm>
            <a:off x="9253728" y="3310128"/>
            <a:ext cx="301752" cy="301752"/>
          </a:xfrm>
          <a:prstGeom prst="ellipse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53728" y="3346704"/>
            <a:ext cx="3017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97380"/>
                </a:solidFill>
                <a:latin typeface="Aptos"/>
              </a:rPr>
              <a:t>Analytical principle: all numerical KPIs are calculated from the supplied transaction-level data and then compared across time, geography, product/category, customer segment, and order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KPI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Core measures calculated directly from the supplied workbook.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59436" cy="144475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After discounts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16352" y="1234440"/>
            <a:ext cx="59436" cy="144475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99232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Gross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₹429,243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Before discounts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9783" y="1234440"/>
            <a:ext cx="59436" cy="144475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12664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Unique order 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43216" y="1234440"/>
            <a:ext cx="59436" cy="144475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6096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Unique customer 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56648" y="123444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56648" y="1234440"/>
            <a:ext cx="59436" cy="1444752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39528" y="138074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Units Sold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164592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257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066544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Total quantity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10896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3108960"/>
            <a:ext cx="59436" cy="1444752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325526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Average Order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520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941063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Net revenue / order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16352" y="3108960"/>
            <a:ext cx="2057400" cy="1444752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16352" y="3108960"/>
            <a:ext cx="59436" cy="1444752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99232" y="3255264"/>
            <a:ext cx="17830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Average Rating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9232" y="352044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3.98/5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3941063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Customer feedback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Revenue &amp; Order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Monthly net revenue and order volume across the available analysis period.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188720"/>
          <a:ext cx="69037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35240" y="1234440"/>
          <a:ext cx="3794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Month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₹39,980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₹51,594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₹49,344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₹48,114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₹54,953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₹54,410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₹68,670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2026-08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₹26,078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89788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1F31"/>
                </a:solidFill>
                <a:latin typeface="Aptos"/>
              </a:rPr>
              <a:t>Peak monthly net revenue: 2026-07 at ₹68,670.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Revenue concentration by region.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188720"/>
          <a:ext cx="60350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12280" y="1234440"/>
          <a:ext cx="44348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West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33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₹138,824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35.3%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South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₹112,324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28.6%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East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₹79,007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20.1%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North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₹62,988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16.0%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48006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F31"/>
                </a:solidFill>
                <a:latin typeface="Aptos"/>
              </a:rPr>
              <a:t>Key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138928"/>
            <a:ext cx="4343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13B49"/>
                </a:solidFill>
                <a:latin typeface="Aptos"/>
              </a:defRPr>
            </a:pPr>
            <a:r>
              <a:t>• West leads at ₹138,824.</a:t>
            </a:r>
          </a:p>
          <a:p>
            <a:pPr>
              <a:spcAft>
                <a:spcPts val="500"/>
              </a:spcAft>
              <a:defRPr sz="1050">
                <a:solidFill>
                  <a:srgbClr val="313B49"/>
                </a:solidFill>
                <a:latin typeface="Aptos"/>
              </a:defRPr>
            </a:pPr>
            <a:r>
              <a:t>• West + South contribute 63.9% combined.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Category &amp; Product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Where product and category performance is concentrated.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188720"/>
          <a:ext cx="5806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234440"/>
          <a:ext cx="4754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Top Product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Smart Watch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₹72,413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Running Shoes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₹69,559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Coffee Maker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₹62,439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Wireless Headphones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₹40,074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Yoga Mat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₹30,348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Denim Jeans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₹29,722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20840" y="4983480"/>
            <a:ext cx="4526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13B49"/>
                </a:solidFill>
                <a:latin typeface="Aptos"/>
              </a:defRPr>
            </a:pPr>
            <a:r>
              <a:t>• Electronics leads categories at ₹140,692.</a:t>
            </a:r>
          </a:p>
          <a:p>
            <a:pPr>
              <a:spcAft>
                <a:spcPts val="500"/>
              </a:spcAft>
              <a:defRPr sz="1050">
                <a:solidFill>
                  <a:srgbClr val="313B49"/>
                </a:solidFill>
                <a:latin typeface="Aptos"/>
              </a:defRPr>
            </a:pPr>
            <a:r>
              <a:t>• Hero-product and cross-sell strategies should focus on the strongest categories.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Customer Segment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Revenue contribution and repeat-purchase behaviour.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5257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Loyal Customer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41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₹141,180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35.9%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New Customer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₹138,473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35.2%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Regular Customer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₹113,491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28.9%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553712"/>
            <a:ext cx="4983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F31"/>
                </a:solidFill>
                <a:latin typeface="Aptos"/>
              </a:rPr>
              <a:t>Revenue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9560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Loyal 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4992624"/>
            <a:ext cx="2697480" cy="164592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40280" y="4992624"/>
            <a:ext cx="968677" cy="16459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493776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11F31"/>
                </a:solidFill>
                <a:latin typeface="Aptos"/>
              </a:rPr>
              <a:t>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39496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New Customer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5431536"/>
            <a:ext cx="2697480" cy="164592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40280" y="5431536"/>
            <a:ext cx="950105" cy="16459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53766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11F31"/>
                </a:solidFill>
                <a:latin typeface="Aptos"/>
              </a:rPr>
              <a:t>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3387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Regular Customer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5870448"/>
            <a:ext cx="2697480" cy="164592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40280" y="5870448"/>
            <a:ext cx="778696" cy="164592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58155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111F31"/>
                </a:solidFill>
                <a:latin typeface="Aptos"/>
              </a:rPr>
              <a:t>29%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234440"/>
            <a:ext cx="502920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F31"/>
                </a:solidFill>
                <a:latin typeface="Aptos"/>
              </a:rPr>
              <a:t>Customer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65960"/>
            <a:ext cx="4297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13B49"/>
                </a:solidFill>
                <a:latin typeface="Aptos"/>
              </a:defRPr>
            </a:pPr>
            <a:r>
              <a:t>• 20 of 20 customers placed 2+ orders (100%).</a:t>
            </a:r>
          </a:p>
          <a:p>
            <a:pPr>
              <a:spcAft>
                <a:spcPts val="800"/>
              </a:spcAft>
              <a:defRPr sz="1100">
                <a:solidFill>
                  <a:srgbClr val="313B49"/>
                </a:solidFill>
                <a:latin typeface="Aptos"/>
              </a:defRPr>
            </a:pPr>
            <a:r>
              <a:t>• Loyal customers contribute 35.9% of net revenue.</a:t>
            </a:r>
          </a:p>
          <a:p>
            <a:pPr>
              <a:spcAft>
                <a:spcPts val="800"/>
              </a:spcAft>
              <a:defRPr sz="1100">
                <a:solidFill>
                  <a:srgbClr val="313B49"/>
                </a:solidFill>
                <a:latin typeface="Aptos"/>
              </a:defRPr>
            </a:pPr>
            <a:r>
              <a:t>• New customers contribute 35.2% of net revenue.</a:t>
            </a:r>
          </a:p>
          <a:p>
            <a:pPr>
              <a:spcAft>
                <a:spcPts val="800"/>
              </a:spcAft>
              <a:defRPr sz="1100">
                <a:solidFill>
                  <a:srgbClr val="313B49"/>
                </a:solidFill>
                <a:latin typeface="Aptos"/>
              </a:defRPr>
            </a:pPr>
            <a:r>
              <a:t>• Retention and second-order conversion should be treated as complementary priorities.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Order Health &amp; Payment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Operational outcomes and transaction-channel distribution.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188720"/>
          <a:ext cx="5120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Delivered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83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83%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₹316,616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Returned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6%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₹30,602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Cancelled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4%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₹14,159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7%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₹31,766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188720"/>
          <a:ext cx="5303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Payment Method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Cash on Delivery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26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₹104,677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Debit Card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₹91,010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UPI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₹72,229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Credit Card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₹68,680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Net Banking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17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₹56,547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828032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4828032"/>
            <a:ext cx="59436" cy="114300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974336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Delivered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39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60136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83% of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4828032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39" y="4828032"/>
            <a:ext cx="59436" cy="1143000"/>
          </a:xfrm>
          <a:prstGeom prst="rect">
            <a:avLst/>
          </a:prstGeom>
          <a:solidFill>
            <a:srgbClr val="D6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4974336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Returned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239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660136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6% of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59" y="4828032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59" y="4828032"/>
            <a:ext cx="59436" cy="1143000"/>
          </a:xfrm>
          <a:prstGeom prst="rect">
            <a:avLst/>
          </a:prstGeom>
          <a:solidFill>
            <a:srgbClr val="BE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4974336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Cancelled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5239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660136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4% of 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4828032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69680" y="4828032"/>
            <a:ext cx="59436" cy="1143000"/>
          </a:xfrm>
          <a:prstGeom prst="rect">
            <a:avLst/>
          </a:prstGeom>
          <a:solidFill>
            <a:srgbClr val="D68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59" y="4974336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52395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5660136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380"/>
                </a:solidFill>
                <a:latin typeface="Aptos"/>
              </a:rPr>
              <a:t>7% of 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Dashboard — Management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One-page management view of the most important commercial signals.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59436" cy="114300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243584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₹393,144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39" y="109728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39" y="1097280"/>
            <a:ext cx="59436" cy="1143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243584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109728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59" y="1097280"/>
            <a:ext cx="59436" cy="1143000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243584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097280"/>
            <a:ext cx="246888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1097280"/>
            <a:ext cx="59436" cy="1143000"/>
          </a:xfrm>
          <a:prstGeom prst="rect">
            <a:avLst/>
          </a:prstGeom>
          <a:solidFill>
            <a:srgbClr val="2B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59" y="1243584"/>
            <a:ext cx="21945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13B49"/>
                </a:solidFill>
                <a:latin typeface="Aptos"/>
              </a:rPr>
              <a:t>AOV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11F31"/>
                </a:solidFill>
                <a:latin typeface="Aptos"/>
              </a:rPr>
              <a:t>₹3,931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02920" y="2606040"/>
          <a:ext cx="5349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72200" y="260604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Priority actions for revenue, customer retention, and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67B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207007"/>
            <a:ext cx="2514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Protect high-performing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207007"/>
            <a:ext cx="6309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13B49"/>
                </a:solidFill>
                <a:latin typeface="Aptos"/>
              </a:rPr>
              <a:t>Maintain availability and fulfilment strength in leading regions while testing growth levers in weaker regions.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27101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Growth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2402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67B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167128"/>
            <a:ext cx="2514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Scale winning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167128"/>
            <a:ext cx="6309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13B49"/>
                </a:solidFill>
                <a:latin typeface="Aptos"/>
              </a:rPr>
              <a:t>Prioritise hero products, bundles, and cross-sell opportunities in the strongest categories.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23113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Commercial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67B8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27248"/>
            <a:ext cx="2514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Improve repeat purchase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127248"/>
            <a:ext cx="6309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13B49"/>
                </a:solidFill>
                <a:latin typeface="Aptos"/>
              </a:rPr>
              <a:t>Use post-purchase communication, loyalty benefits, and second-order incentives.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19125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CRM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39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2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67B8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87368"/>
            <a:ext cx="2514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Reduce operational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87368"/>
            <a:ext cx="6309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13B49"/>
                </a:solidFill>
                <a:latin typeface="Aptos"/>
              </a:rPr>
              <a:t>Investigate return/cancellation reasons and actively manage pending orders.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15137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37759"/>
            <a:ext cx="1106424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667B8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047488"/>
            <a:ext cx="25146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F31"/>
                </a:solidFill>
                <a:latin typeface="Aptos"/>
              </a:rPr>
              <a:t>Control discount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047488"/>
            <a:ext cx="6309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13B49"/>
                </a:solidFill>
                <a:latin typeface="Aptos"/>
              </a:rPr>
              <a:t>Evaluate discounts by category, segment, and order value rather than blanket promotions.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111496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88F96"/>
                </a:solidFill>
                <a:latin typeface="Aptos"/>
              </a:rPr>
              <a:t>Finance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Overall interpretation of the e-commerce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744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dataset provides a complete business-performance view across 100 orders and 20 customers.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Net revenue of ₹393,144 and AOV of ₹3,931 establish the commercial baseline.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Regional and category analysis identifies the strongest revenue pools for focused action.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Customer-segment analysis shows a meaningful repeat-purchase base while leaving room to convert more new customers.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Order-health analysis highlights returns, cancellations, and pending orders as practical improvement areas.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The dashboard structure can be refreshed as new transactions are added to the source workbook.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Data Source &amp;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Calculation definitions used throughout the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143000"/>
          <a:ext cx="109728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F31"/>
                          </a:solidFill>
                          <a:latin typeface="Aptos"/>
                        </a:defRPr>
                      </a:pPr>
                      <a:r>
                        <a:t>Definition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Unique Order ID count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Unique Customer ID count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Gross Sales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Sum of Gross Sales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Discount Amount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Sum of Discount Amount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Sum of Net Revenue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AOV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Net Revenue ÷ unique orders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Delivery Rate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Delivered orders ÷ total orders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Return + Cancellation Rate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(Returned + Cancelled orders) ÷ total orders</a:t>
                      </a:r>
                    </a:p>
                  </a:txBody>
                  <a:tcPr marL="54864" marR="36576" marT="36576" marB="36576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7492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Repeat Customer Share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13B49"/>
                          </a:solidFill>
                          <a:latin typeface="Aptos"/>
                        </a:defRPr>
                      </a:pPr>
                      <a:r>
                        <a:t>Customers with 2+ orders ÷ unique customers</a:t>
                      </a:r>
                    </a:p>
                  </a:txBody>
                  <a:tcPr marL="54864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33679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97380"/>
                </a:solidFill>
                <a:latin typeface="Aptos"/>
              </a:rPr>
              <a:t>Primary source: supplied Excel workbook, Raw_Data sheet. All numerical findings are calculated from the provided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F31"/>
                </a:solidFill>
                <a:latin typeface="Aptos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380"/>
                </a:solidFill>
                <a:latin typeface="Aptos"/>
              </a:rPr>
              <a:t>Ways to extend the analytics model for more advanced decision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109960" cy="13716"/>
          </a:xfrm>
          <a:prstGeom prst="rect">
            <a:avLst/>
          </a:prstGeom>
          <a:solidFill>
            <a:srgbClr val="DD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380"/>
                </a:solidFill>
                <a:latin typeface="Aptos"/>
              </a:rPr>
              <a:t>E-Commerce Order &amp; Customer Analytics | Source: provided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73952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>
                <a:solidFill>
                  <a:srgbClr val="697380"/>
                </a:solidFill>
                <a:latin typeface="Apto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744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Automate workbook refresh so the dashboard updates when new transactions are added.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Introduce customer lifetime value, cohort retention, and repeat-purchase analysis.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Add profitability measures such as gross margin and contribution margin when cost data are available.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Build regional and product-level drill-downs for more granular decisions.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Add revenue and demand forecasting using a longer historical period.</a:t>
            </a:r>
          </a:p>
          <a:p>
            <a:pPr>
              <a:spcAft>
                <a:spcPts val="1200"/>
              </a:spcAft>
              <a:defRPr sz="1400">
                <a:solidFill>
                  <a:srgbClr val="313B49"/>
                </a:solidFill>
                <a:latin typeface="Aptos"/>
              </a:defRPr>
            </a:pPr>
            <a:r>
              <a:t>• Connect the Excel model to Power BI for interactive executive reporting.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79CF-54CB-4D86-8DAE-D0C4C99A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E-Commerce Order &amp; Customer Analytics Dashboard</a:t>
            </a:r>
            <a:endParaRPr lang="en-IN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D77DAC-DDA6-4CCD-B698-B0226266A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39240"/>
            <a:ext cx="11209020" cy="429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82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66760" y="0"/>
            <a:ext cx="932688" cy="6858000"/>
          </a:xfrm>
          <a:prstGeom prst="rect">
            <a:avLst/>
          </a:prstGeom>
          <a:solidFill>
            <a:srgbClr val="36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91472" y="0"/>
            <a:ext cx="932688" cy="6858000"/>
          </a:xfrm>
          <a:prstGeom prst="rect">
            <a:avLst/>
          </a:prstGeom>
          <a:solidFill>
            <a:srgbClr val="28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616184" y="0"/>
            <a:ext cx="932688" cy="6858000"/>
          </a:xfrm>
          <a:prstGeom prst="rect">
            <a:avLst/>
          </a:prstGeom>
          <a:solidFill>
            <a:srgbClr val="6A4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6537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E-COMMERCE ORDER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537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56616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2DCE9"/>
                </a:solidFill>
                <a:latin typeface="Apto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6217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DC8D7"/>
                </a:solidFill>
                <a:latin typeface="Aptos"/>
              </a:rPr>
              <a:t>100 orders • 20 customers • 257 units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1691</Words>
  <Application>Microsoft Office PowerPoint</Application>
  <PresentationFormat>Widescreen</PresentationFormat>
  <Paragraphs>427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E-Commerce Order &amp; Customer Analytics Dashboard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Soumya Roy</dc:creator>
  <cp:keywords/>
  <dc:description>generated using python-pptx</dc:description>
  <cp:lastModifiedBy>TUNA</cp:lastModifiedBy>
  <cp:revision>12</cp:revision>
  <dcterms:created xsi:type="dcterms:W3CDTF">2013-01-27T09:14:16Z</dcterms:created>
  <dcterms:modified xsi:type="dcterms:W3CDTF">2026-09-02T07:54:16Z</dcterms:modified>
  <cp:category/>
</cp:coreProperties>
</file>
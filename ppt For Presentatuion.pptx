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65"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4660"/>
  </p:normalViewPr>
  <p:slideViewPr>
    <p:cSldViewPr snapToGrid="0" snapToObjects="1">
      <p:cViewPr varScale="1">
        <p:scale>
          <a:sx n="64" d="100"/>
          <a:sy n="64" d="100"/>
        </p:scale>
        <p:origin x="97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a:pPr>
            <a:r>
              <a:rPr lang="en-IN"/>
              <a:t>Monthly Order Volume</a:t>
            </a:r>
          </a:p>
        </c:rich>
      </c:tx>
      <c:overlay val="0"/>
    </c:title>
    <c:autoTitleDeleted val="0"/>
    <c:plotArea>
      <c:layout/>
      <c:barChart>
        <c:barDir val="col"/>
        <c:grouping val="clustered"/>
        <c:varyColors val="1"/>
        <c:ser>
          <c:idx val="0"/>
          <c:order val="0"/>
          <c:tx>
            <c:strRef>
              <c:f>Sheet1!$B$1</c:f>
              <c:strCache>
                <c:ptCount val="1"/>
                <c:pt idx="0">
                  <c:v>Orders</c:v>
                </c:pt>
              </c:strCache>
            </c:strRef>
          </c:tx>
          <c:invertIfNegative val="1"/>
          <c:cat>
            <c:strRef>
              <c:f>Sheet1!$A$2:$A$14</c:f>
              <c:strCache>
                <c:ptCount val="13"/>
                <c:pt idx="0">
                  <c:v>Apr 2024</c:v>
                </c:pt>
                <c:pt idx="1">
                  <c:v>May 2024</c:v>
                </c:pt>
                <c:pt idx="2">
                  <c:v>Jun 2024</c:v>
                </c:pt>
                <c:pt idx="3">
                  <c:v>Jul 2024</c:v>
                </c:pt>
                <c:pt idx="4">
                  <c:v>Aug 2024</c:v>
                </c:pt>
                <c:pt idx="5">
                  <c:v>Sep 2024</c:v>
                </c:pt>
                <c:pt idx="6">
                  <c:v>Oct 2024</c:v>
                </c:pt>
                <c:pt idx="7">
                  <c:v>Nov 2024</c:v>
                </c:pt>
                <c:pt idx="8">
                  <c:v>Dec 2024</c:v>
                </c:pt>
                <c:pt idx="9">
                  <c:v>Jan 2025</c:v>
                </c:pt>
                <c:pt idx="10">
                  <c:v>Feb 2025</c:v>
                </c:pt>
                <c:pt idx="11">
                  <c:v>Mar 2025</c:v>
                </c:pt>
                <c:pt idx="12">
                  <c:v>Apr 2025</c:v>
                </c:pt>
              </c:strCache>
            </c:strRef>
          </c:cat>
          <c:val>
            <c:numRef>
              <c:f>Sheet1!$B$2:$B$14</c:f>
              <c:numCache>
                <c:formatCode>General</c:formatCode>
                <c:ptCount val="13"/>
                <c:pt idx="0">
                  <c:v>7518</c:v>
                </c:pt>
                <c:pt idx="1">
                  <c:v>7892</c:v>
                </c:pt>
                <c:pt idx="2">
                  <c:v>7798</c:v>
                </c:pt>
                <c:pt idx="3">
                  <c:v>7807</c:v>
                </c:pt>
                <c:pt idx="4">
                  <c:v>7776</c:v>
                </c:pt>
                <c:pt idx="5">
                  <c:v>7653</c:v>
                </c:pt>
                <c:pt idx="6">
                  <c:v>7706</c:v>
                </c:pt>
                <c:pt idx="7">
                  <c:v>7685</c:v>
                </c:pt>
                <c:pt idx="8">
                  <c:v>7732</c:v>
                </c:pt>
                <c:pt idx="9">
                  <c:v>7743</c:v>
                </c:pt>
                <c:pt idx="10">
                  <c:v>7025</c:v>
                </c:pt>
                <c:pt idx="11">
                  <c:v>7985</c:v>
                </c:pt>
                <c:pt idx="12">
                  <c:v>7680</c:v>
                </c:pt>
              </c:numCache>
            </c:numRef>
          </c:val>
          <c:extLst>
            <c:ext xmlns:c16="http://schemas.microsoft.com/office/drawing/2014/chart" uri="{C3380CC4-5D6E-409C-BE32-E72D297353CC}">
              <c16:uniqueId val="{00000000-EB72-4151-A373-4F444E2C5BC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a:pPr>
            <a:r>
              <a:rPr lang="en-IN"/>
              <a:t>Monthly Revenue</a:t>
            </a:r>
          </a:p>
        </c:rich>
      </c:tx>
      <c:overlay val="0"/>
    </c:title>
    <c:autoTitleDeleted val="0"/>
    <c:plotArea>
      <c:layout/>
      <c:lineChart>
        <c:grouping val="standard"/>
        <c:varyColors val="0"/>
        <c:ser>
          <c:idx val="0"/>
          <c:order val="0"/>
          <c:tx>
            <c:strRef>
              <c:f>Sheet1!$B$1</c:f>
              <c:strCache>
                <c:ptCount val="1"/>
                <c:pt idx="0">
                  <c:v>Revenue</c:v>
                </c:pt>
              </c:strCache>
            </c:strRef>
          </c:tx>
          <c:cat>
            <c:strRef>
              <c:f>Sheet1!$A$2:$A$14</c:f>
              <c:strCache>
                <c:ptCount val="13"/>
                <c:pt idx="0">
                  <c:v>Apr 2024</c:v>
                </c:pt>
                <c:pt idx="1">
                  <c:v>May 2024</c:v>
                </c:pt>
                <c:pt idx="2">
                  <c:v>Jun 2024</c:v>
                </c:pt>
                <c:pt idx="3">
                  <c:v>Jul 2024</c:v>
                </c:pt>
                <c:pt idx="4">
                  <c:v>Aug 2024</c:v>
                </c:pt>
                <c:pt idx="5">
                  <c:v>Sep 2024</c:v>
                </c:pt>
                <c:pt idx="6">
                  <c:v>Oct 2024</c:v>
                </c:pt>
                <c:pt idx="7">
                  <c:v>Nov 2024</c:v>
                </c:pt>
                <c:pt idx="8">
                  <c:v>Dec 2024</c:v>
                </c:pt>
                <c:pt idx="9">
                  <c:v>Jan 2025</c:v>
                </c:pt>
                <c:pt idx="10">
                  <c:v>Feb 2025</c:v>
                </c:pt>
                <c:pt idx="11">
                  <c:v>Mar 2025</c:v>
                </c:pt>
                <c:pt idx="12">
                  <c:v>Apr 2025</c:v>
                </c:pt>
              </c:strCache>
            </c:strRef>
          </c:cat>
          <c:val>
            <c:numRef>
              <c:f>Sheet1!$B$2:$B$14</c:f>
              <c:numCache>
                <c:formatCode>General</c:formatCode>
                <c:ptCount val="13"/>
                <c:pt idx="0">
                  <c:v>4243514.84</c:v>
                </c:pt>
                <c:pt idx="1">
                  <c:v>4484646.6399999997</c:v>
                </c:pt>
                <c:pt idx="2">
                  <c:v>4410505.1399999997</c:v>
                </c:pt>
                <c:pt idx="3">
                  <c:v>4458338.9800000004</c:v>
                </c:pt>
                <c:pt idx="4">
                  <c:v>4411550.54</c:v>
                </c:pt>
                <c:pt idx="5">
                  <c:v>4385897.0199999996</c:v>
                </c:pt>
                <c:pt idx="6">
                  <c:v>4319499.41</c:v>
                </c:pt>
                <c:pt idx="7">
                  <c:v>4336748.07</c:v>
                </c:pt>
                <c:pt idx="8">
                  <c:v>4417290.57</c:v>
                </c:pt>
                <c:pt idx="9">
                  <c:v>4426309.4800000004</c:v>
                </c:pt>
                <c:pt idx="10">
                  <c:v>3971264.42</c:v>
                </c:pt>
                <c:pt idx="11">
                  <c:v>4540848.18</c:v>
                </c:pt>
                <c:pt idx="12">
                  <c:v>4351459.2</c:v>
                </c:pt>
              </c:numCache>
            </c:numRef>
          </c:val>
          <c:smooth val="0"/>
          <c:extLst>
            <c:ext xmlns:c16="http://schemas.microsoft.com/office/drawing/2014/chart" uri="{C3380CC4-5D6E-409C-BE32-E72D297353CC}">
              <c16:uniqueId val="{00000000-E0EB-4561-B21A-B8F12AAAD1BA}"/>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a:pPr>
            <a:r>
              <a:rPr lang="en-IN"/>
              <a:t>Orders by Cuisine</a:t>
            </a:r>
          </a:p>
        </c:rich>
      </c:tx>
      <c:overlay val="0"/>
    </c:title>
    <c:autoTitleDeleted val="0"/>
    <c:plotArea>
      <c:layout/>
      <c:doughnutChart>
        <c:varyColors val="1"/>
        <c:ser>
          <c:idx val="0"/>
          <c:order val="0"/>
          <c:tx>
            <c:strRef>
              <c:f>Sheet1!$B$1</c:f>
              <c:strCache>
                <c:ptCount val="1"/>
                <c:pt idx="0">
                  <c:v>Orders</c:v>
                </c:pt>
              </c:strCache>
            </c:strRef>
          </c:tx>
          <c:cat>
            <c:strRef>
              <c:f>Sheet1!$A$2:$A$9</c:f>
              <c:strCache>
                <c:ptCount val="8"/>
                <c:pt idx="0">
                  <c:v>Beverages</c:v>
                </c:pt>
                <c:pt idx="1">
                  <c:v>Chinese</c:v>
                </c:pt>
                <c:pt idx="2">
                  <c:v>Desserts</c:v>
                </c:pt>
                <c:pt idx="3">
                  <c:v>Fast Food</c:v>
                </c:pt>
                <c:pt idx="4">
                  <c:v>Italian</c:v>
                </c:pt>
                <c:pt idx="5">
                  <c:v>North Indian</c:v>
                </c:pt>
                <c:pt idx="6">
                  <c:v>Others</c:v>
                </c:pt>
                <c:pt idx="7">
                  <c:v>South Indian</c:v>
                </c:pt>
              </c:strCache>
            </c:strRef>
          </c:cat>
          <c:val>
            <c:numRef>
              <c:f>Sheet1!$B$2:$B$9</c:f>
              <c:numCache>
                <c:formatCode>General</c:formatCode>
                <c:ptCount val="8"/>
                <c:pt idx="0">
                  <c:v>5904</c:v>
                </c:pt>
                <c:pt idx="1">
                  <c:v>18038</c:v>
                </c:pt>
                <c:pt idx="2">
                  <c:v>7202</c:v>
                </c:pt>
                <c:pt idx="3">
                  <c:v>12945</c:v>
                </c:pt>
                <c:pt idx="4">
                  <c:v>8887</c:v>
                </c:pt>
                <c:pt idx="5">
                  <c:v>24169</c:v>
                </c:pt>
                <c:pt idx="6">
                  <c:v>7879</c:v>
                </c:pt>
                <c:pt idx="7">
                  <c:v>14976</c:v>
                </c:pt>
              </c:numCache>
            </c:numRef>
          </c:val>
          <c:extLst>
            <c:ext xmlns:c16="http://schemas.microsoft.com/office/drawing/2014/chart" uri="{C3380CC4-5D6E-409C-BE32-E72D297353CC}">
              <c16:uniqueId val="{00000000-D851-44E9-99A1-74E7E03C4F8D}"/>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8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a:pPr>
            <a:r>
              <a:rPr lang="en-IN"/>
              <a:t>Orders by City</a:t>
            </a:r>
          </a:p>
        </c:rich>
      </c:tx>
      <c:overlay val="0"/>
    </c:title>
    <c:autoTitleDeleted val="0"/>
    <c:plotArea>
      <c:layout/>
      <c:barChart>
        <c:barDir val="bar"/>
        <c:grouping val="clustered"/>
        <c:varyColors val="1"/>
        <c:ser>
          <c:idx val="0"/>
          <c:order val="0"/>
          <c:tx>
            <c:strRef>
              <c:f>Sheet1!$B$1</c:f>
              <c:strCache>
                <c:ptCount val="1"/>
                <c:pt idx="0">
                  <c:v>Orders</c:v>
                </c:pt>
              </c:strCache>
            </c:strRef>
          </c:tx>
          <c:invertIfNegative val="1"/>
          <c:cat>
            <c:strRef>
              <c:f>Sheet1!$A$2:$A$11</c:f>
              <c:strCache>
                <c:ptCount val="10"/>
                <c:pt idx="0">
                  <c:v>Pune</c:v>
                </c:pt>
                <c:pt idx="1">
                  <c:v>Delhi</c:v>
                </c:pt>
                <c:pt idx="2">
                  <c:v>Mumbai</c:v>
                </c:pt>
                <c:pt idx="3">
                  <c:v>Jaipur</c:v>
                </c:pt>
                <c:pt idx="4">
                  <c:v>Hyderabad</c:v>
                </c:pt>
                <c:pt idx="5">
                  <c:v>Lucknow</c:v>
                </c:pt>
                <c:pt idx="6">
                  <c:v>Ahmedabad</c:v>
                </c:pt>
                <c:pt idx="7">
                  <c:v>Bengaluru</c:v>
                </c:pt>
                <c:pt idx="8">
                  <c:v>Kolkata</c:v>
                </c:pt>
                <c:pt idx="9">
                  <c:v>Chennai</c:v>
                </c:pt>
              </c:strCache>
            </c:strRef>
          </c:cat>
          <c:val>
            <c:numRef>
              <c:f>Sheet1!$B$2:$B$11</c:f>
              <c:numCache>
                <c:formatCode>General</c:formatCode>
                <c:ptCount val="10"/>
                <c:pt idx="0">
                  <c:v>10783</c:v>
                </c:pt>
                <c:pt idx="1">
                  <c:v>10670</c:v>
                </c:pt>
                <c:pt idx="2">
                  <c:v>10423</c:v>
                </c:pt>
                <c:pt idx="3">
                  <c:v>10409</c:v>
                </c:pt>
                <c:pt idx="4">
                  <c:v>10062</c:v>
                </c:pt>
                <c:pt idx="5">
                  <c:v>10046</c:v>
                </c:pt>
                <c:pt idx="6">
                  <c:v>9698</c:v>
                </c:pt>
                <c:pt idx="7">
                  <c:v>9623</c:v>
                </c:pt>
                <c:pt idx="8">
                  <c:v>9175</c:v>
                </c:pt>
                <c:pt idx="9">
                  <c:v>9111</c:v>
                </c:pt>
              </c:numCache>
            </c:numRef>
          </c:val>
          <c:extLst>
            <c:ext xmlns:c16="http://schemas.microsoft.com/office/drawing/2014/chart" uri="{C3380CC4-5D6E-409C-BE32-E72D297353CC}">
              <c16:uniqueId val="{00000000-291D-4801-B6A5-108BB784233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a:pPr>
            <a:r>
              <a:rPr lang="en-IN"/>
              <a:t>Order Status</a:t>
            </a:r>
          </a:p>
        </c:rich>
      </c:tx>
      <c:overlay val="0"/>
    </c:title>
    <c:autoTitleDeleted val="0"/>
    <c:plotArea>
      <c:layout/>
      <c:doughnutChart>
        <c:varyColors val="1"/>
        <c:ser>
          <c:idx val="0"/>
          <c:order val="0"/>
          <c:tx>
            <c:strRef>
              <c:f>Sheet1!$B$1</c:f>
              <c:strCache>
                <c:ptCount val="1"/>
                <c:pt idx="0">
                  <c:v>Orders</c:v>
                </c:pt>
              </c:strCache>
            </c:strRef>
          </c:tx>
          <c:cat>
            <c:strRef>
              <c:f>Sheet1!$A$2:$A$6</c:f>
              <c:strCache>
                <c:ptCount val="5"/>
                <c:pt idx="0">
                  <c:v>Cancelled</c:v>
                </c:pt>
                <c:pt idx="1">
                  <c:v>Delivered</c:v>
                </c:pt>
                <c:pt idx="2">
                  <c:v>Out for Delivery</c:v>
                </c:pt>
                <c:pt idx="3">
                  <c:v>Preparing</c:v>
                </c:pt>
                <c:pt idx="4">
                  <c:v>Returned</c:v>
                </c:pt>
              </c:strCache>
            </c:strRef>
          </c:cat>
          <c:val>
            <c:numRef>
              <c:f>Sheet1!$B$2:$B$6</c:f>
              <c:numCache>
                <c:formatCode>General</c:formatCode>
                <c:ptCount val="5"/>
                <c:pt idx="0">
                  <c:v>5017</c:v>
                </c:pt>
                <c:pt idx="1">
                  <c:v>71995</c:v>
                </c:pt>
                <c:pt idx="2">
                  <c:v>7976</c:v>
                </c:pt>
                <c:pt idx="3">
                  <c:v>12011</c:v>
                </c:pt>
                <c:pt idx="4">
                  <c:v>3001</c:v>
                </c:pt>
              </c:numCache>
            </c:numRef>
          </c:val>
          <c:extLst>
            <c:ext xmlns:c16="http://schemas.microsoft.com/office/drawing/2014/chart" uri="{C3380CC4-5D6E-409C-BE32-E72D297353CC}">
              <c16:uniqueId val="{00000000-9202-4CD0-AE7F-DE31F610D554}"/>
            </c:ext>
          </c:extLst>
        </c:ser>
        <c:dLbls>
          <c:showLegendKey val="0"/>
          <c:showVal val="0"/>
          <c:showCatName val="0"/>
          <c:showSerName val="0"/>
          <c:showPercent val="0"/>
          <c:showBubbleSize val="0"/>
          <c:showLeaderLines val="1"/>
        </c:dLbls>
        <c:firstSliceAng val="0"/>
        <c:holeSize val="50"/>
      </c:doughnutChart>
    </c:plotArea>
    <c:legend>
      <c:legendPos val="r"/>
      <c:overlay val="0"/>
      <c:txPr>
        <a:bodyPr/>
        <a:lstStyle/>
        <a:p>
          <a:pPr>
            <a:defRPr sz="800"/>
          </a:pPr>
          <a:endParaRPr lang="en-US"/>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34440"/>
            <a:ext cx="11116954" cy="1908215"/>
          </a:xfrm>
          <a:prstGeom prst="rect">
            <a:avLst/>
          </a:prstGeom>
          <a:noFill/>
        </p:spPr>
        <p:txBody>
          <a:bodyPr wrap="none">
            <a:spAutoFit/>
          </a:bodyPr>
          <a:lstStyle/>
          <a:p>
            <a:pPr>
              <a:defRPr sz="3800" b="1">
                <a:solidFill>
                  <a:srgbClr val="FFFFFF"/>
                </a:solidFill>
              </a:defRPr>
            </a:pPr>
            <a:r>
              <a:rPr dirty="0"/>
              <a:t>Food Delivery &amp;</a:t>
            </a:r>
            <a:br>
              <a:rPr dirty="0"/>
            </a:br>
            <a:r>
              <a:rPr dirty="0"/>
              <a:t>Customer Analytics Platform</a:t>
            </a:r>
            <a:r>
              <a:rPr lang="en-US" dirty="0"/>
              <a:t>(</a:t>
            </a:r>
            <a:r>
              <a:rPr lang="en-IN" sz="2400" b="1" dirty="0">
                <a:solidFill>
                  <a:srgbClr val="FFFFFF"/>
                </a:solidFill>
                <a:latin typeface="Aptos"/>
              </a:rPr>
              <a:t>E-COMMERCE ORDER &amp; CUSTOMER
ANALYTICS)</a:t>
            </a:r>
            <a:endParaRPr dirty="0"/>
          </a:p>
          <a:p>
            <a:pPr>
              <a:defRPr sz="1800">
                <a:solidFill>
                  <a:srgbClr val="EBEBEB"/>
                </a:solidFill>
              </a:defRPr>
            </a:pPr>
            <a:r>
              <a:rPr dirty="0"/>
              <a:t>Excel Dashboard &amp; Business Insights</a:t>
            </a:r>
          </a:p>
        </p:txBody>
      </p:sp>
      <p:sp>
        <p:nvSpPr>
          <p:cNvPr id="5" name="TextBox 4"/>
          <p:cNvSpPr txBox="1"/>
          <p:nvPr/>
        </p:nvSpPr>
        <p:spPr>
          <a:xfrm>
            <a:off x="749808" y="3657600"/>
            <a:ext cx="5394960" cy="1143000"/>
          </a:xfrm>
          <a:prstGeom prst="rect">
            <a:avLst/>
          </a:prstGeom>
          <a:solidFill>
            <a:srgbClr val="1F2D35"/>
          </a:solidFill>
          <a:ln>
            <a:solidFill>
              <a:srgbClr val="414B52"/>
            </a:solidFill>
          </a:ln>
        </p:spPr>
        <p:txBody>
          <a:bodyPr wrap="none" lIns="228600">
            <a:spAutoFit/>
          </a:bodyPr>
          <a:lstStyle/>
          <a:p>
            <a:pPr>
              <a:spcAft>
                <a:spcPts val="500"/>
              </a:spcAft>
              <a:defRPr sz="1300">
                <a:solidFill>
                  <a:srgbClr val="FFFFFF"/>
                </a:solidFill>
              </a:defRPr>
            </a:pPr>
            <a:r>
              <a:t>Tool: Microsoft Excel</a:t>
            </a:r>
          </a:p>
          <a:p>
            <a:pPr>
              <a:spcAft>
                <a:spcPts val="500"/>
              </a:spcAft>
              <a:defRPr sz="1300">
                <a:solidFill>
                  <a:srgbClr val="FFFFFF"/>
                </a:solidFill>
              </a:defRPr>
            </a:pPr>
            <a:r>
              <a:t>Dataset: 100,000 food-delivery orders</a:t>
            </a:r>
          </a:p>
          <a:p>
            <a:pPr>
              <a:spcAft>
                <a:spcPts val="500"/>
              </a:spcAft>
              <a:defRPr sz="1300">
                <a:solidFill>
                  <a:srgbClr val="FFFFFF"/>
                </a:solidFill>
              </a:defRPr>
            </a:pPr>
            <a:r>
              <a:t>Focus: Orders • Revenue • Customers • Delivery • Ratings</a:t>
            </a:r>
          </a:p>
        </p:txBody>
      </p:sp>
      <p:sp>
        <p:nvSpPr>
          <p:cNvPr id="7" name="Rounded Rectangle 6"/>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t>Explanation: This project presents a complete food-delivery analytics solution built in Microsoft Excel. The dashboard brings orders, revenue, customers, restaurants, delivery performance and customer experience into one management view. The purpose is to convert a large transactional dataset into simple business insights that can support faster decisions.</a:t>
            </a:r>
          </a:p>
        </p:txBody>
      </p:sp>
      <p:sp>
        <p:nvSpPr>
          <p:cNvPr id="8" name="TextBox 7"/>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1</a:t>
            </a:r>
          </a:p>
        </p:txBody>
      </p:sp>
      <p:pic>
        <p:nvPicPr>
          <p:cNvPr id="9" name="Picture 8">
            <a:extLst>
              <a:ext uri="{FF2B5EF4-FFF2-40B4-BE49-F238E27FC236}">
                <a16:creationId xmlns:a16="http://schemas.microsoft.com/office/drawing/2014/main" id="{C57C88F6-58ED-4C4C-99F7-4BBCCEEB99F7}"/>
              </a:ext>
            </a:extLst>
          </p:cNvPr>
          <p:cNvPicPr>
            <a:picLocks noChangeAspect="1"/>
          </p:cNvPicPr>
          <p:nvPr/>
        </p:nvPicPr>
        <p:blipFill>
          <a:blip r:embed="rId2"/>
          <a:stretch>
            <a:fillRect/>
          </a:stretch>
        </p:blipFill>
        <p:spPr>
          <a:xfrm>
            <a:off x="9421749" y="254251"/>
            <a:ext cx="2374011" cy="9907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1. Project Objective</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What the dashboard is designed to answer</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417320"/>
            <a:ext cx="6492240" cy="4389120"/>
          </a:xfrm>
          <a:prstGeom prst="rect">
            <a:avLst/>
          </a:prstGeom>
          <a:noFill/>
        </p:spPr>
        <p:txBody>
          <a:bodyPr wrap="square">
            <a:spAutoFit/>
          </a:bodyPr>
          <a:lstStyle/>
          <a:p>
            <a:pPr>
              <a:spcAft>
                <a:spcPts val="1000"/>
              </a:spcAft>
              <a:defRPr sz="1700">
                <a:solidFill>
                  <a:srgbClr val="122028"/>
                </a:solidFill>
              </a:defRPr>
            </a:pPr>
            <a:r>
              <a:t>• Track overall order volume, revenue, customers and restaurants.</a:t>
            </a:r>
          </a:p>
          <a:p>
            <a:pPr>
              <a:spcAft>
                <a:spcPts val="1000"/>
              </a:spcAft>
              <a:defRPr sz="1700">
                <a:solidFill>
                  <a:srgbClr val="122028"/>
                </a:solidFill>
              </a:defRPr>
            </a:pPr>
            <a:r>
              <a:t>• Understand which cuisines, cities and restaurants generate the most demand.</a:t>
            </a:r>
          </a:p>
          <a:p>
            <a:pPr>
              <a:spcAft>
                <a:spcPts val="1000"/>
              </a:spcAft>
              <a:defRPr sz="1700">
                <a:solidFill>
                  <a:srgbClr val="122028"/>
                </a:solidFill>
              </a:defRPr>
            </a:pPr>
            <a:r>
              <a:t>• Measure delivery performance, payment preferences, order status and customer segments.</a:t>
            </a:r>
          </a:p>
          <a:p>
            <a:pPr>
              <a:spcAft>
                <a:spcPts val="1000"/>
              </a:spcAft>
              <a:defRPr sz="1700">
                <a:solidFill>
                  <a:srgbClr val="122028"/>
                </a:solidFill>
              </a:defRPr>
            </a:pPr>
            <a:r>
              <a:t>• Use KPI cards and charts to support faster business decisions.</a:t>
            </a:r>
          </a:p>
        </p:txBody>
      </p:sp>
      <p:sp>
        <p:nvSpPr>
          <p:cNvPr id="7" name="Rounded Rectangle 6"/>
          <p:cNvSpPr/>
          <p:nvPr/>
        </p:nvSpPr>
        <p:spPr>
          <a:xfrm>
            <a:off x="7726679" y="1508760"/>
            <a:ext cx="3246120" cy="105156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TOTAL ORDERS</a:t>
            </a:r>
          </a:p>
          <a:p>
            <a:pPr>
              <a:defRPr sz="2100" b="1">
                <a:solidFill>
                  <a:srgbClr val="122028"/>
                </a:solidFill>
              </a:defRPr>
            </a:pPr>
            <a:r>
              <a:t>100,000</a:t>
            </a:r>
          </a:p>
          <a:p>
            <a:pPr>
              <a:defRPr sz="830">
                <a:solidFill>
                  <a:srgbClr val="646C72"/>
                </a:solidFill>
              </a:defRPr>
            </a:pPr>
            <a:r>
              <a:t>Order volume</a:t>
            </a:r>
          </a:p>
        </p:txBody>
      </p:sp>
      <p:sp>
        <p:nvSpPr>
          <p:cNvPr id="8" name="Rectangle 7"/>
          <p:cNvSpPr/>
          <p:nvPr/>
        </p:nvSpPr>
        <p:spPr>
          <a:xfrm>
            <a:off x="7726679" y="1508760"/>
            <a:ext cx="64008" cy="105156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26679" y="2743200"/>
            <a:ext cx="3246120" cy="105156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TOTAL REVENUE</a:t>
            </a:r>
          </a:p>
          <a:p>
            <a:pPr>
              <a:defRPr sz="2100" b="1">
                <a:solidFill>
                  <a:srgbClr val="122028"/>
                </a:solidFill>
              </a:defRPr>
            </a:pPr>
            <a:r>
              <a:t>₹5.68 Cr</a:t>
            </a:r>
          </a:p>
          <a:p>
            <a:pPr>
              <a:defRPr sz="830">
                <a:solidFill>
                  <a:srgbClr val="646C72"/>
                </a:solidFill>
              </a:defRPr>
            </a:pPr>
            <a:r>
              <a:t>Overall revenue</a:t>
            </a:r>
          </a:p>
        </p:txBody>
      </p:sp>
      <p:sp>
        <p:nvSpPr>
          <p:cNvPr id="10" name="Rectangle 9"/>
          <p:cNvSpPr/>
          <p:nvPr/>
        </p:nvSpPr>
        <p:spPr>
          <a:xfrm>
            <a:off x="7726679" y="2743200"/>
            <a:ext cx="64008" cy="1051560"/>
          </a:xfrm>
          <a:prstGeom prst="rect">
            <a:avLst/>
          </a:prstGeom>
          <a:solidFill>
            <a:srgbClr val="1E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26679" y="3977639"/>
            <a:ext cx="3246120" cy="105156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CUSTOMERS</a:t>
            </a:r>
          </a:p>
          <a:p>
            <a:pPr>
              <a:defRPr sz="2100" b="1">
                <a:solidFill>
                  <a:srgbClr val="122028"/>
                </a:solidFill>
              </a:defRPr>
            </a:pPr>
            <a:r>
              <a:t>24,529</a:t>
            </a:r>
          </a:p>
          <a:p>
            <a:pPr>
              <a:defRPr sz="830">
                <a:solidFill>
                  <a:srgbClr val="646C72"/>
                </a:solidFill>
              </a:defRPr>
            </a:pPr>
            <a:r>
              <a:t>Customer base</a:t>
            </a:r>
          </a:p>
        </p:txBody>
      </p:sp>
      <p:sp>
        <p:nvSpPr>
          <p:cNvPr id="12" name="Rectangle 11"/>
          <p:cNvSpPr/>
          <p:nvPr/>
        </p:nvSpPr>
        <p:spPr>
          <a:xfrm>
            <a:off x="7726679" y="3977639"/>
            <a:ext cx="64008" cy="1051560"/>
          </a:xfrm>
          <a:prstGeom prst="rect">
            <a:avLst/>
          </a:prstGeom>
          <a:solidFill>
            <a:srgbClr val="23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The objective is to understand the complete customer-order journey, from demand generation to delivery and customer satisfaction. The dashboard helps management identify high-performing cities and cuisines, understand customer segments, monitor operational performance and find areas where service quality can be improved.</a:t>
            </a:r>
          </a:p>
        </p:txBody>
      </p:sp>
      <p:sp>
        <p:nvSpPr>
          <p:cNvPr id="14" name="TextBox 13"/>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2. Dataset &amp; Excel Structure</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The workbook contains raw data plus analysis-ready sheets</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371600"/>
            <a:ext cx="246888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ORDERS</a:t>
            </a:r>
          </a:p>
          <a:p>
            <a:pPr>
              <a:defRPr sz="2100" b="1">
                <a:solidFill>
                  <a:srgbClr val="122028"/>
                </a:solidFill>
              </a:defRPr>
            </a:pPr>
            <a:r>
              <a:t>100,000</a:t>
            </a:r>
          </a:p>
          <a:p>
            <a:pPr>
              <a:defRPr sz="830">
                <a:solidFill>
                  <a:srgbClr val="646C72"/>
                </a:solidFill>
              </a:defRPr>
            </a:pPr>
            <a:r>
              <a:t>Transaction records</a:t>
            </a:r>
          </a:p>
        </p:txBody>
      </p:sp>
      <p:sp>
        <p:nvSpPr>
          <p:cNvPr id="7" name="Rectangle 6"/>
          <p:cNvSpPr/>
          <p:nvPr/>
        </p:nvSpPr>
        <p:spPr>
          <a:xfrm>
            <a:off x="685800" y="1371600"/>
            <a:ext cx="64008" cy="1143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29000" y="1371600"/>
            <a:ext cx="246888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CUSTOMERS</a:t>
            </a:r>
          </a:p>
          <a:p>
            <a:pPr>
              <a:defRPr sz="2100" b="1">
                <a:solidFill>
                  <a:srgbClr val="122028"/>
                </a:solidFill>
              </a:defRPr>
            </a:pPr>
            <a:r>
              <a:t>24,529</a:t>
            </a:r>
          </a:p>
          <a:p>
            <a:pPr>
              <a:defRPr sz="830">
                <a:solidFill>
                  <a:srgbClr val="646C72"/>
                </a:solidFill>
              </a:defRPr>
            </a:pPr>
            <a:r>
              <a:t>Customer master data</a:t>
            </a:r>
          </a:p>
        </p:txBody>
      </p:sp>
      <p:sp>
        <p:nvSpPr>
          <p:cNvPr id="9" name="Rectangle 8"/>
          <p:cNvSpPr/>
          <p:nvPr/>
        </p:nvSpPr>
        <p:spPr>
          <a:xfrm>
            <a:off x="3429000" y="1371600"/>
            <a:ext cx="64008" cy="1143000"/>
          </a:xfrm>
          <a:prstGeom prst="rect">
            <a:avLst/>
          </a:prstGeom>
          <a:solidFill>
            <a:srgbClr val="23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72200" y="1371600"/>
            <a:ext cx="246888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RESTAURANTS</a:t>
            </a:r>
          </a:p>
          <a:p>
            <a:pPr>
              <a:defRPr sz="2100" b="1">
                <a:solidFill>
                  <a:srgbClr val="122028"/>
                </a:solidFill>
              </a:defRPr>
            </a:pPr>
            <a:r>
              <a:t>500</a:t>
            </a:r>
          </a:p>
          <a:p>
            <a:pPr>
              <a:defRPr sz="830">
                <a:solidFill>
                  <a:srgbClr val="646C72"/>
                </a:solidFill>
              </a:defRPr>
            </a:pPr>
            <a:r>
              <a:t>Restaurant records</a:t>
            </a:r>
          </a:p>
        </p:txBody>
      </p:sp>
      <p:sp>
        <p:nvSpPr>
          <p:cNvPr id="11" name="Rectangle 10"/>
          <p:cNvSpPr/>
          <p:nvPr/>
        </p:nvSpPr>
        <p:spPr>
          <a:xfrm>
            <a:off x="6172200" y="1371600"/>
            <a:ext cx="64008" cy="1143000"/>
          </a:xfrm>
          <a:prstGeom prst="rect">
            <a:avLst/>
          </a:prstGeom>
          <a:solidFill>
            <a:srgbClr val="1E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915400" y="1371600"/>
            <a:ext cx="246888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FOOD ITEMS</a:t>
            </a:r>
          </a:p>
          <a:p>
            <a:pPr>
              <a:defRPr sz="2100" b="1">
                <a:solidFill>
                  <a:srgbClr val="122028"/>
                </a:solidFill>
              </a:defRPr>
            </a:pPr>
            <a:r>
              <a:t>48</a:t>
            </a:r>
          </a:p>
          <a:p>
            <a:pPr>
              <a:defRPr sz="830">
                <a:solidFill>
                  <a:srgbClr val="646C72"/>
                </a:solidFill>
              </a:defRPr>
            </a:pPr>
            <a:r>
              <a:t>Food catalogue</a:t>
            </a:r>
          </a:p>
        </p:txBody>
      </p:sp>
      <p:sp>
        <p:nvSpPr>
          <p:cNvPr id="13" name="Rectangle 12"/>
          <p:cNvSpPr/>
          <p:nvPr/>
        </p:nvSpPr>
        <p:spPr>
          <a:xfrm>
            <a:off x="8915400" y="1371600"/>
            <a:ext cx="64008" cy="1143000"/>
          </a:xfrm>
          <a:prstGeom prst="rect">
            <a:avLst/>
          </a:prstGeom>
          <a:solidFill>
            <a:srgbClr val="D24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77240" y="2880360"/>
            <a:ext cx="5074920" cy="594360"/>
          </a:xfrm>
          <a:prstGeom prst="roundRect">
            <a:avLst/>
          </a:prstGeom>
          <a:solidFill>
            <a:srgbClr val="F6F8FA"/>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rtlCol="0" anchor="ctr"/>
          <a:lstStyle/>
          <a:p>
            <a:pPr algn="ctr">
              <a:defRPr sz="1150">
                <a:solidFill>
                  <a:srgbClr val="122028"/>
                </a:solidFill>
              </a:defRPr>
            </a:pPr>
            <a:r>
              <a:t>Orders — Main transaction-level dataset</a:t>
            </a:r>
          </a:p>
        </p:txBody>
      </p:sp>
      <p:sp>
        <p:nvSpPr>
          <p:cNvPr id="15" name="Rounded Rectangle 14"/>
          <p:cNvSpPr/>
          <p:nvPr/>
        </p:nvSpPr>
        <p:spPr>
          <a:xfrm>
            <a:off x="6263640" y="2880360"/>
            <a:ext cx="5074920" cy="594360"/>
          </a:xfrm>
          <a:prstGeom prst="roundRect">
            <a:avLst/>
          </a:prstGeom>
          <a:solidFill>
            <a:srgbClr val="F6F8FA"/>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rtlCol="0" anchor="ctr"/>
          <a:lstStyle/>
          <a:p>
            <a:pPr algn="ctr">
              <a:defRPr sz="1150">
                <a:solidFill>
                  <a:srgbClr val="122028"/>
                </a:solidFill>
              </a:defRPr>
            </a:pPr>
            <a:r>
              <a:t>Customers — Customer profile and segment information</a:t>
            </a:r>
          </a:p>
        </p:txBody>
      </p:sp>
      <p:sp>
        <p:nvSpPr>
          <p:cNvPr id="16" name="Rounded Rectangle 15"/>
          <p:cNvSpPr/>
          <p:nvPr/>
        </p:nvSpPr>
        <p:spPr>
          <a:xfrm>
            <a:off x="777240" y="3630168"/>
            <a:ext cx="5074920" cy="594360"/>
          </a:xfrm>
          <a:prstGeom prst="roundRect">
            <a:avLst/>
          </a:prstGeom>
          <a:solidFill>
            <a:srgbClr val="F6F8FA"/>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rtlCol="0" anchor="ctr"/>
          <a:lstStyle/>
          <a:p>
            <a:pPr algn="ctr">
              <a:defRPr sz="1150">
                <a:solidFill>
                  <a:srgbClr val="122028"/>
                </a:solidFill>
              </a:defRPr>
            </a:pPr>
            <a:r>
              <a:t>Restaurants — Restaurant-level reference data</a:t>
            </a:r>
          </a:p>
        </p:txBody>
      </p:sp>
      <p:sp>
        <p:nvSpPr>
          <p:cNvPr id="17" name="Rounded Rectangle 16"/>
          <p:cNvSpPr/>
          <p:nvPr/>
        </p:nvSpPr>
        <p:spPr>
          <a:xfrm>
            <a:off x="6263640" y="3630168"/>
            <a:ext cx="5074920" cy="594360"/>
          </a:xfrm>
          <a:prstGeom prst="roundRect">
            <a:avLst/>
          </a:prstGeom>
          <a:solidFill>
            <a:srgbClr val="F6F8FA"/>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rtlCol="0" anchor="ctr"/>
          <a:lstStyle/>
          <a:p>
            <a:pPr algn="ctr">
              <a:defRPr sz="1150">
                <a:solidFill>
                  <a:srgbClr val="122028"/>
                </a:solidFill>
              </a:defRPr>
            </a:pPr>
            <a:r>
              <a:t>Food_Items — Food item and cuisine information</a:t>
            </a:r>
          </a:p>
        </p:txBody>
      </p:sp>
      <p:sp>
        <p:nvSpPr>
          <p:cNvPr id="18" name="Rounded Rectangle 17"/>
          <p:cNvSpPr/>
          <p:nvPr/>
        </p:nvSpPr>
        <p:spPr>
          <a:xfrm>
            <a:off x="777240" y="4379976"/>
            <a:ext cx="5074920" cy="594360"/>
          </a:xfrm>
          <a:prstGeom prst="roundRect">
            <a:avLst/>
          </a:prstGeom>
          <a:solidFill>
            <a:srgbClr val="F6F8FA"/>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rtlCol="0" anchor="ctr"/>
          <a:lstStyle/>
          <a:p>
            <a:pPr algn="ctr">
              <a:defRPr sz="1150">
                <a:solidFill>
                  <a:srgbClr val="122028"/>
                </a:solidFill>
              </a:defRPr>
            </a:pPr>
            <a:r>
              <a:t>Monthly_Summary — Monthly orders, customers and revenue</a:t>
            </a:r>
          </a:p>
        </p:txBody>
      </p:sp>
      <p:sp>
        <p:nvSpPr>
          <p:cNvPr id="19" name="Rounded Rectangle 18"/>
          <p:cNvSpPr/>
          <p:nvPr/>
        </p:nvSpPr>
        <p:spPr>
          <a:xfrm>
            <a:off x="6263640" y="4379976"/>
            <a:ext cx="5074920" cy="594360"/>
          </a:xfrm>
          <a:prstGeom prst="roundRect">
            <a:avLst/>
          </a:prstGeom>
          <a:solidFill>
            <a:srgbClr val="F6F8FA"/>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rtlCol="0" anchor="ctr"/>
          <a:lstStyle/>
          <a:p>
            <a:pPr algn="ctr">
              <a:defRPr sz="1150">
                <a:solidFill>
                  <a:srgbClr val="122028"/>
                </a:solidFill>
              </a:defRPr>
            </a:pPr>
            <a:r>
              <a:t>KPI / Pivot sheets — Dashboard-ready calculations and summaries</a:t>
            </a:r>
          </a:p>
        </p:txBody>
      </p:sp>
      <p:sp>
        <p:nvSpPr>
          <p:cNvPr id="20" name="Rounded Rectangle 19"/>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The workbook is structured so that raw transactional information can be separated from reference data and analysis sheets. This improves clarity and makes the dashboard easier to refresh. The project uses order-level data together with customer, restaurant, food-item and summary information to create a complete analytical model.</a:t>
            </a:r>
          </a:p>
        </p:txBody>
      </p:sp>
      <p:sp>
        <p:nvSpPr>
          <p:cNvPr id="21" name="TextBox 20"/>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3. Key Performance Indicators</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High-level metrics visible at the top of the dashboard</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Total Orders</a:t>
            </a:r>
          </a:p>
          <a:p>
            <a:pPr>
              <a:defRPr sz="2100" b="1">
                <a:solidFill>
                  <a:srgbClr val="122028"/>
                </a:solidFill>
              </a:defRPr>
            </a:pPr>
            <a:r>
              <a:t>100,000</a:t>
            </a:r>
          </a:p>
          <a:p>
            <a:pPr>
              <a:defRPr sz="830">
                <a:solidFill>
                  <a:srgbClr val="646C72"/>
                </a:solidFill>
              </a:defRPr>
            </a:pPr>
            <a:r>
              <a:t>Order volume</a:t>
            </a:r>
          </a:p>
        </p:txBody>
      </p:sp>
      <p:sp>
        <p:nvSpPr>
          <p:cNvPr id="7" name="Rectangle 6"/>
          <p:cNvSpPr/>
          <p:nvPr/>
        </p:nvSpPr>
        <p:spPr>
          <a:xfrm>
            <a:off x="640080" y="1417320"/>
            <a:ext cx="64008" cy="1417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29000" y="141732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Customers</a:t>
            </a:r>
          </a:p>
          <a:p>
            <a:pPr>
              <a:defRPr sz="2100" b="1">
                <a:solidFill>
                  <a:srgbClr val="122028"/>
                </a:solidFill>
              </a:defRPr>
            </a:pPr>
            <a:r>
              <a:t>24,529</a:t>
            </a:r>
          </a:p>
          <a:p>
            <a:pPr>
              <a:defRPr sz="830">
                <a:solidFill>
                  <a:srgbClr val="646C72"/>
                </a:solidFill>
              </a:defRPr>
            </a:pPr>
            <a:r>
              <a:t>Customer base</a:t>
            </a:r>
          </a:p>
        </p:txBody>
      </p:sp>
      <p:sp>
        <p:nvSpPr>
          <p:cNvPr id="9" name="Rectangle 8"/>
          <p:cNvSpPr/>
          <p:nvPr/>
        </p:nvSpPr>
        <p:spPr>
          <a:xfrm>
            <a:off x="3429000" y="1417320"/>
            <a:ext cx="64008" cy="1417320"/>
          </a:xfrm>
          <a:prstGeom prst="rect">
            <a:avLst/>
          </a:prstGeom>
          <a:solidFill>
            <a:srgbClr val="23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17920" y="141732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Restaurants</a:t>
            </a:r>
          </a:p>
          <a:p>
            <a:pPr>
              <a:defRPr sz="2100" b="1">
                <a:solidFill>
                  <a:srgbClr val="122028"/>
                </a:solidFill>
              </a:defRPr>
            </a:pPr>
            <a:r>
              <a:t>500</a:t>
            </a:r>
          </a:p>
          <a:p>
            <a:pPr>
              <a:defRPr sz="830">
                <a:solidFill>
                  <a:srgbClr val="646C72"/>
                </a:solidFill>
              </a:defRPr>
            </a:pPr>
            <a:r>
              <a:t>Restaurant network</a:t>
            </a:r>
          </a:p>
        </p:txBody>
      </p:sp>
      <p:sp>
        <p:nvSpPr>
          <p:cNvPr id="11" name="Rectangle 10"/>
          <p:cNvSpPr/>
          <p:nvPr/>
        </p:nvSpPr>
        <p:spPr>
          <a:xfrm>
            <a:off x="6217920" y="1417320"/>
            <a:ext cx="64008" cy="1417320"/>
          </a:xfrm>
          <a:prstGeom prst="rect">
            <a:avLst/>
          </a:prstGeom>
          <a:solidFill>
            <a:srgbClr val="1E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006839" y="141732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Revenue</a:t>
            </a:r>
          </a:p>
          <a:p>
            <a:pPr>
              <a:defRPr sz="2100" b="1">
                <a:solidFill>
                  <a:srgbClr val="122028"/>
                </a:solidFill>
              </a:defRPr>
            </a:pPr>
            <a:r>
              <a:t>₹5.68 Cr</a:t>
            </a:r>
          </a:p>
          <a:p>
            <a:pPr>
              <a:defRPr sz="830">
                <a:solidFill>
                  <a:srgbClr val="646C72"/>
                </a:solidFill>
              </a:defRPr>
            </a:pPr>
            <a:r>
              <a:t>Revenue</a:t>
            </a:r>
          </a:p>
        </p:txBody>
      </p:sp>
      <p:sp>
        <p:nvSpPr>
          <p:cNvPr id="13" name="Rectangle 12"/>
          <p:cNvSpPr/>
          <p:nvPr/>
        </p:nvSpPr>
        <p:spPr>
          <a:xfrm>
            <a:off x="9006839" y="1417320"/>
            <a:ext cx="64008" cy="1417320"/>
          </a:xfrm>
          <a:prstGeom prst="rect">
            <a:avLst/>
          </a:prstGeom>
          <a:solidFill>
            <a:srgbClr val="D24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 y="333756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Average Order Value</a:t>
            </a:r>
          </a:p>
          <a:p>
            <a:pPr>
              <a:defRPr sz="2100" b="1">
                <a:solidFill>
                  <a:srgbClr val="122028"/>
                </a:solidFill>
              </a:defRPr>
            </a:pPr>
            <a:r>
              <a:t>₹552</a:t>
            </a:r>
          </a:p>
          <a:p>
            <a:pPr>
              <a:defRPr sz="830">
                <a:solidFill>
                  <a:srgbClr val="646C72"/>
                </a:solidFill>
              </a:defRPr>
            </a:pPr>
            <a:r>
              <a:t>Per-order average</a:t>
            </a:r>
          </a:p>
        </p:txBody>
      </p:sp>
      <p:sp>
        <p:nvSpPr>
          <p:cNvPr id="15" name="Rectangle 14"/>
          <p:cNvSpPr/>
          <p:nvPr/>
        </p:nvSpPr>
        <p:spPr>
          <a:xfrm>
            <a:off x="640080" y="3337560"/>
            <a:ext cx="64008" cy="14173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29000" y="333756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Avg Delivery Time</a:t>
            </a:r>
          </a:p>
          <a:p>
            <a:pPr>
              <a:defRPr sz="2100" b="1">
                <a:solidFill>
                  <a:srgbClr val="122028"/>
                </a:solidFill>
              </a:defRPr>
            </a:pPr>
            <a:r>
              <a:t>32.3 min</a:t>
            </a:r>
          </a:p>
          <a:p>
            <a:pPr>
              <a:defRPr sz="830">
                <a:solidFill>
                  <a:srgbClr val="646C72"/>
                </a:solidFill>
              </a:defRPr>
            </a:pPr>
            <a:r>
              <a:t>Delivery speed</a:t>
            </a:r>
          </a:p>
        </p:txBody>
      </p:sp>
      <p:sp>
        <p:nvSpPr>
          <p:cNvPr id="17" name="Rectangle 16"/>
          <p:cNvSpPr/>
          <p:nvPr/>
        </p:nvSpPr>
        <p:spPr>
          <a:xfrm>
            <a:off x="3429000" y="3337560"/>
            <a:ext cx="64008" cy="1417320"/>
          </a:xfrm>
          <a:prstGeom prst="rect">
            <a:avLst/>
          </a:prstGeom>
          <a:solidFill>
            <a:srgbClr val="23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17920" y="333756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On-time Delivery</a:t>
            </a:r>
          </a:p>
          <a:p>
            <a:pPr>
              <a:defRPr sz="2100" b="1">
                <a:solidFill>
                  <a:srgbClr val="122028"/>
                </a:solidFill>
              </a:defRPr>
            </a:pPr>
            <a:r>
              <a:t>32.5%</a:t>
            </a:r>
          </a:p>
          <a:p>
            <a:pPr>
              <a:defRPr sz="830">
                <a:solidFill>
                  <a:srgbClr val="646C72"/>
                </a:solidFill>
              </a:defRPr>
            </a:pPr>
            <a:r>
              <a:t>Reliability</a:t>
            </a:r>
          </a:p>
        </p:txBody>
      </p:sp>
      <p:sp>
        <p:nvSpPr>
          <p:cNvPr id="19" name="Rectangle 18"/>
          <p:cNvSpPr/>
          <p:nvPr/>
        </p:nvSpPr>
        <p:spPr>
          <a:xfrm>
            <a:off x="6217920" y="3337560"/>
            <a:ext cx="64008" cy="1417320"/>
          </a:xfrm>
          <a:prstGeom prst="rect">
            <a:avLst/>
          </a:prstGeom>
          <a:solidFill>
            <a:srgbClr val="1E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06839" y="3337560"/>
            <a:ext cx="2487168" cy="14173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Customer Rating</a:t>
            </a:r>
          </a:p>
          <a:p>
            <a:pPr>
              <a:defRPr sz="2100" b="1">
                <a:solidFill>
                  <a:srgbClr val="122028"/>
                </a:solidFill>
              </a:defRPr>
            </a:pPr>
            <a:r>
              <a:t>4.2 / 5</a:t>
            </a:r>
          </a:p>
          <a:p>
            <a:pPr>
              <a:defRPr sz="830">
                <a:solidFill>
                  <a:srgbClr val="646C72"/>
                </a:solidFill>
              </a:defRPr>
            </a:pPr>
            <a:r>
              <a:t>Experience</a:t>
            </a:r>
          </a:p>
        </p:txBody>
      </p:sp>
      <p:sp>
        <p:nvSpPr>
          <p:cNvPr id="21" name="Rectangle 20"/>
          <p:cNvSpPr/>
          <p:nvPr/>
        </p:nvSpPr>
        <p:spPr>
          <a:xfrm>
            <a:off x="9006839" y="3337560"/>
            <a:ext cx="64008" cy="1417320"/>
          </a:xfrm>
          <a:prstGeom prst="rect">
            <a:avLst/>
          </a:prstGeom>
          <a:solidFill>
            <a:srgbClr val="D24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 The KPI layer gives management an immediate snapshot of business health. Total orders and customers show scale, revenue shows commercial performance, average order value indicates spending behavior, while delivery time, on-time delivery and rating indicate service quality. Together, these KPIs create a balanced view of growth and operations.</a:t>
            </a:r>
          </a:p>
        </p:txBody>
      </p:sp>
      <p:sp>
        <p:nvSpPr>
          <p:cNvPr id="23" name="TextBox 22"/>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4. Monthly Orders &amp; Revenue Trend</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April 2024 to April 2025</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640080" y="1325880"/>
          <a:ext cx="67665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noGrp="1"/>
          </p:cNvGraphicFramePr>
          <p:nvPr/>
        </p:nvGraphicFramePr>
        <p:xfrm>
          <a:off x="7726679" y="1325880"/>
          <a:ext cx="37947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 The monthly trend analysis helps identify changes in demand and revenue over time. A manager can compare strong and weak months, investigate unusual changes and connect operational or promotional activities with order performance. This type of trend monitoring can also become the foundation for future forecasting.</a:t>
            </a:r>
          </a:p>
        </p:txBody>
      </p:sp>
      <p:sp>
        <p:nvSpPr>
          <p:cNvPr id="9" name="TextBox 8"/>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5. Demand by Cuisine &amp; City</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Where customer demand is concentrated</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594360" y="1325880"/>
          <a:ext cx="502920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noGrp="1"/>
          </p:cNvGraphicFramePr>
          <p:nvPr/>
        </p:nvGraphicFramePr>
        <p:xfrm>
          <a:off x="5806440" y="1325880"/>
          <a:ext cx="56235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Cuisine and city analysis reveals where customer demand is concentrated. Understanding the leading cuisines can support menu partnerships and promotional campaigns, while city-level demand analysis can help with restaurant onboarding, delivery capacity planning and targeted marketing.</a:t>
            </a:r>
          </a:p>
        </p:txBody>
      </p:sp>
      <p:sp>
        <p:nvSpPr>
          <p:cNvPr id="9" name="TextBox 8"/>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6. Customer &amp; Operational Performance</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Service quality and customer behavior</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594360" y="1325880"/>
          <a:ext cx="4663440" cy="429768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5532120" y="1417320"/>
            <a:ext cx="2606040" cy="13258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AVG DELIVERY TIME</a:t>
            </a:r>
          </a:p>
          <a:p>
            <a:pPr>
              <a:defRPr sz="2100" b="1">
                <a:solidFill>
                  <a:srgbClr val="122028"/>
                </a:solidFill>
              </a:defRPr>
            </a:pPr>
            <a:r>
              <a:t>32.3 min</a:t>
            </a:r>
          </a:p>
          <a:p>
            <a:pPr>
              <a:defRPr sz="830">
                <a:solidFill>
                  <a:srgbClr val="646C72"/>
                </a:solidFill>
              </a:defRPr>
            </a:pPr>
            <a:r>
              <a:t>Operational speed</a:t>
            </a:r>
          </a:p>
        </p:txBody>
      </p:sp>
      <p:sp>
        <p:nvSpPr>
          <p:cNvPr id="8" name="Rectangle 7"/>
          <p:cNvSpPr/>
          <p:nvPr/>
        </p:nvSpPr>
        <p:spPr>
          <a:xfrm>
            <a:off x="5532120" y="1417320"/>
            <a:ext cx="64008" cy="132588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366760" y="1417320"/>
            <a:ext cx="2606040" cy="13258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ON-TIME DELIVERY</a:t>
            </a:r>
          </a:p>
          <a:p>
            <a:pPr>
              <a:defRPr sz="2100" b="1">
                <a:solidFill>
                  <a:srgbClr val="122028"/>
                </a:solidFill>
              </a:defRPr>
            </a:pPr>
            <a:r>
              <a:t>32.5%</a:t>
            </a:r>
          </a:p>
          <a:p>
            <a:pPr>
              <a:defRPr sz="830">
                <a:solidFill>
                  <a:srgbClr val="646C72"/>
                </a:solidFill>
              </a:defRPr>
            </a:pPr>
            <a:r>
              <a:t>Reliability</a:t>
            </a:r>
          </a:p>
        </p:txBody>
      </p:sp>
      <p:sp>
        <p:nvSpPr>
          <p:cNvPr id="10" name="Rectangle 9"/>
          <p:cNvSpPr/>
          <p:nvPr/>
        </p:nvSpPr>
        <p:spPr>
          <a:xfrm>
            <a:off x="8366760" y="1417320"/>
            <a:ext cx="64008" cy="1325880"/>
          </a:xfrm>
          <a:prstGeom prst="rect">
            <a:avLst/>
          </a:prstGeom>
          <a:solidFill>
            <a:srgbClr val="1E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532120" y="2971800"/>
            <a:ext cx="2606040" cy="13258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CUSTOMER RATING</a:t>
            </a:r>
          </a:p>
          <a:p>
            <a:pPr>
              <a:defRPr sz="2100" b="1">
                <a:solidFill>
                  <a:srgbClr val="122028"/>
                </a:solidFill>
              </a:defRPr>
            </a:pPr>
            <a:r>
              <a:t>4.2/5</a:t>
            </a:r>
          </a:p>
          <a:p>
            <a:pPr>
              <a:defRPr sz="830">
                <a:solidFill>
                  <a:srgbClr val="646C72"/>
                </a:solidFill>
              </a:defRPr>
            </a:pPr>
            <a:r>
              <a:t>Experience</a:t>
            </a:r>
          </a:p>
        </p:txBody>
      </p:sp>
      <p:sp>
        <p:nvSpPr>
          <p:cNvPr id="12" name="Rectangle 11"/>
          <p:cNvSpPr/>
          <p:nvPr/>
        </p:nvSpPr>
        <p:spPr>
          <a:xfrm>
            <a:off x="5532120" y="2971800"/>
            <a:ext cx="64008" cy="1325880"/>
          </a:xfrm>
          <a:prstGeom prst="rect">
            <a:avLst/>
          </a:prstGeom>
          <a:solidFill>
            <a:srgbClr val="23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366760" y="2971800"/>
            <a:ext cx="2606040" cy="13258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646C72"/>
                </a:solidFill>
              </a:defRPr>
            </a:pPr>
            <a:r>
              <a:t>CANCELLATION RATE</a:t>
            </a:r>
          </a:p>
          <a:p>
            <a:pPr>
              <a:defRPr sz="2100" b="1">
                <a:solidFill>
                  <a:srgbClr val="122028"/>
                </a:solidFill>
              </a:defRPr>
            </a:pPr>
            <a:r>
              <a:t>5.0%</a:t>
            </a:r>
          </a:p>
          <a:p>
            <a:pPr>
              <a:defRPr sz="830">
                <a:solidFill>
                  <a:srgbClr val="646C72"/>
                </a:solidFill>
              </a:defRPr>
            </a:pPr>
            <a:r>
              <a:t>Orders cancelled</a:t>
            </a:r>
          </a:p>
        </p:txBody>
      </p:sp>
      <p:sp>
        <p:nvSpPr>
          <p:cNvPr id="14" name="Rectangle 13"/>
          <p:cNvSpPr/>
          <p:nvPr/>
        </p:nvSpPr>
        <p:spPr>
          <a:xfrm>
            <a:off x="8366760" y="2971800"/>
            <a:ext cx="64008" cy="1325880"/>
          </a:xfrm>
          <a:prstGeom prst="rect">
            <a:avLst/>
          </a:prstGeom>
          <a:solidFill>
            <a:srgbClr val="D24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77840" y="4572000"/>
            <a:ext cx="5486400" cy="1097280"/>
          </a:xfrm>
          <a:prstGeom prst="rect">
            <a:avLst/>
          </a:prstGeom>
          <a:noFill/>
        </p:spPr>
        <p:txBody>
          <a:bodyPr wrap="square">
            <a:spAutoFit/>
          </a:bodyPr>
          <a:lstStyle/>
          <a:p>
            <a:pPr>
              <a:spcAft>
                <a:spcPts val="1000"/>
              </a:spcAft>
              <a:defRPr sz="1250">
                <a:solidFill>
                  <a:srgbClr val="122028"/>
                </a:solidFill>
              </a:defRPr>
            </a:pPr>
            <a:r>
              <a:t>• Delivered orders are the largest status category.</a:t>
            </a:r>
          </a:p>
          <a:p>
            <a:pPr>
              <a:spcAft>
                <a:spcPts val="1000"/>
              </a:spcAft>
              <a:defRPr sz="1250">
                <a:solidFill>
                  <a:srgbClr val="122028"/>
                </a:solidFill>
              </a:defRPr>
            </a:pPr>
            <a:r>
              <a:t>• Operational improvement should focus on reducing cancellations and improving on-time performance.</a:t>
            </a:r>
          </a:p>
        </p:txBody>
      </p:sp>
      <p:sp>
        <p:nvSpPr>
          <p:cNvPr id="16" name="Rounded Rectangle 15"/>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Customer and operational analysis connects demand with service quality. Order status, delivery time, on-time delivery, ratings and cancellation behavior should be viewed together because operational problems can directly affect customer satisfaction, repeat purchases and long-term revenue.</a:t>
            </a:r>
          </a:p>
        </p:txBody>
      </p:sp>
      <p:sp>
        <p:nvSpPr>
          <p:cNvPr id="17" name="TextBox 16"/>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7. Dashboard Walkthrough</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A single-page management view</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4da7821b-d125-4f22-96e8-df69caf7b836.png"/>
          <p:cNvPicPr>
            <a:picLocks noChangeAspect="1"/>
          </p:cNvPicPr>
          <p:nvPr/>
        </p:nvPicPr>
        <p:blipFill>
          <a:blip r:embed="rId2"/>
          <a:stretch>
            <a:fillRect/>
          </a:stretch>
        </p:blipFill>
        <p:spPr>
          <a:xfrm>
            <a:off x="502920" y="1234440"/>
            <a:ext cx="11155680" cy="4709160"/>
          </a:xfrm>
          <a:prstGeom prst="rect">
            <a:avLst/>
          </a:prstGeom>
        </p:spPr>
      </p:pic>
      <p:sp>
        <p:nvSpPr>
          <p:cNvPr id="7" name="Rounded Rectangle 6"/>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The dashboard is designed as a single-page management view. KPI cards provide the headline numbers, charts explain the trends and distributions, rankings highlight top performers, and detailed information supports deeper investigation. This reduces the time required to move from raw data to an actionable conclusion.</a:t>
            </a:r>
          </a:p>
        </p:txBody>
      </p:sp>
      <p:sp>
        <p:nvSpPr>
          <p:cNvPr id="8" name="TextBox 7"/>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548640"/>
          </a:xfrm>
          <a:prstGeom prst="rect">
            <a:avLst/>
          </a:prstGeom>
          <a:noFill/>
        </p:spPr>
        <p:txBody>
          <a:bodyPr wrap="none">
            <a:spAutoFit/>
          </a:bodyPr>
          <a:lstStyle/>
          <a:p>
            <a:pPr>
              <a:defRPr sz="2700" b="1">
                <a:solidFill>
                  <a:srgbClr val="122028"/>
                </a:solidFill>
              </a:defRPr>
            </a:pPr>
            <a:r>
              <a:t>8. Key Business Insights &amp; Recommendations</a:t>
            </a:r>
          </a:p>
        </p:txBody>
      </p:sp>
      <p:sp>
        <p:nvSpPr>
          <p:cNvPr id="4" name="TextBox 3"/>
          <p:cNvSpPr txBox="1"/>
          <p:nvPr/>
        </p:nvSpPr>
        <p:spPr>
          <a:xfrm>
            <a:off x="521207" y="768096"/>
            <a:ext cx="10972800" cy="274320"/>
          </a:xfrm>
          <a:prstGeom prst="rect">
            <a:avLst/>
          </a:prstGeom>
          <a:noFill/>
        </p:spPr>
        <p:txBody>
          <a:bodyPr wrap="none">
            <a:spAutoFit/>
          </a:bodyPr>
          <a:lstStyle/>
          <a:p>
            <a:pPr>
              <a:defRPr sz="1100">
                <a:solidFill>
                  <a:srgbClr val="646C72"/>
                </a:solidFill>
              </a:defRPr>
            </a:pPr>
            <a:r>
              <a:t>What management can take away from the analysis</a:t>
            </a:r>
          </a:p>
        </p:txBody>
      </p:sp>
      <p:sp>
        <p:nvSpPr>
          <p:cNvPr id="5" name="Rectangle 4"/>
          <p:cNvSpPr/>
          <p:nvPr/>
        </p:nvSpPr>
        <p:spPr>
          <a:xfrm>
            <a:off x="502920" y="1060704"/>
            <a:ext cx="1005840" cy="54864"/>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325880"/>
            <a:ext cx="5303520" cy="4526280"/>
          </a:xfrm>
          <a:prstGeom prst="roundRect">
            <a:avLst/>
          </a:prstGeom>
          <a:solidFill>
            <a:srgbClr val="F6F8FA"/>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1900" b="1">
                <a:solidFill>
                  <a:srgbClr val="FF6600"/>
                </a:solidFill>
              </a:defRPr>
            </a:pPr>
            <a:r>
              <a:t>Key Insights</a:t>
            </a:r>
          </a:p>
          <a:p>
            <a:pPr>
              <a:spcAft>
                <a:spcPts val="900"/>
              </a:spcAft>
              <a:defRPr sz="1300">
                <a:solidFill>
                  <a:srgbClr val="122028"/>
                </a:solidFill>
              </a:defRPr>
            </a:pPr>
            <a:r>
              <a:t>• North Indian is the leading cuisine by order volume.</a:t>
            </a:r>
          </a:p>
          <a:p>
            <a:pPr>
              <a:spcAft>
                <a:spcPts val="900"/>
              </a:spcAft>
              <a:defRPr sz="1300">
                <a:solidFill>
                  <a:srgbClr val="122028"/>
                </a:solidFill>
              </a:defRPr>
            </a:pPr>
            <a:r>
              <a:t>• Pune has the highest order count (10,783).</a:t>
            </a:r>
          </a:p>
          <a:p>
            <a:pPr>
              <a:spcAft>
                <a:spcPts val="900"/>
              </a:spcAft>
              <a:defRPr sz="1300">
                <a:solidFill>
                  <a:srgbClr val="122028"/>
                </a:solidFill>
              </a:defRPr>
            </a:pPr>
            <a:r>
              <a:t>• UPI accounts for about 52% of orders.</a:t>
            </a:r>
          </a:p>
          <a:p>
            <a:pPr>
              <a:spcAft>
                <a:spcPts val="900"/>
              </a:spcAft>
              <a:defRPr sz="1300">
                <a:solidFill>
                  <a:srgbClr val="122028"/>
                </a:solidFill>
              </a:defRPr>
            </a:pPr>
            <a:r>
              <a:t>• Regular customers contribute about 46% of orders.</a:t>
            </a:r>
          </a:p>
          <a:p>
            <a:pPr>
              <a:spcAft>
                <a:spcPts val="900"/>
              </a:spcAft>
              <a:defRPr sz="1300">
                <a:solidFill>
                  <a:srgbClr val="122028"/>
                </a:solidFill>
              </a:defRPr>
            </a:pPr>
            <a:r>
              <a:t>• Average delivery time is about 32.3 minutes and rating is about 4.2/5.</a:t>
            </a:r>
          </a:p>
        </p:txBody>
      </p:sp>
      <p:sp>
        <p:nvSpPr>
          <p:cNvPr id="7" name="Rounded Rectangle 6"/>
          <p:cNvSpPr/>
          <p:nvPr/>
        </p:nvSpPr>
        <p:spPr>
          <a:xfrm>
            <a:off x="6263640" y="1325880"/>
            <a:ext cx="5303520" cy="4526280"/>
          </a:xfrm>
          <a:prstGeom prst="roundRect">
            <a:avLst/>
          </a:prstGeom>
          <a:solidFill>
            <a:srgbClr val="FFF8F1"/>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1900" b="1">
                <a:solidFill>
                  <a:srgbClr val="FF6600"/>
                </a:solidFill>
              </a:defRPr>
            </a:pPr>
            <a:r>
              <a:t>Recommended Actions</a:t>
            </a:r>
          </a:p>
          <a:p>
            <a:pPr>
              <a:spcAft>
                <a:spcPts val="900"/>
              </a:spcAft>
              <a:defRPr sz="1300">
                <a:solidFill>
                  <a:srgbClr val="122028"/>
                </a:solidFill>
              </a:defRPr>
            </a:pPr>
            <a:r>
              <a:t>• Promote high-performing cuisines and city-specific offers.</a:t>
            </a:r>
          </a:p>
          <a:p>
            <a:pPr>
              <a:spcAft>
                <a:spcPts val="900"/>
              </a:spcAft>
              <a:defRPr sz="1300">
                <a:solidFill>
                  <a:srgbClr val="122028"/>
                </a:solidFill>
              </a:defRPr>
            </a:pPr>
            <a:r>
              <a:t>• Use UPI-focused promotions because it is the dominant payment method.</a:t>
            </a:r>
          </a:p>
          <a:p>
            <a:pPr>
              <a:spcAft>
                <a:spcPts val="900"/>
              </a:spcAft>
              <a:defRPr sz="1300">
                <a:solidFill>
                  <a:srgbClr val="122028"/>
                </a:solidFill>
              </a:defRPr>
            </a:pPr>
            <a:r>
              <a:t>• Improve delivery reliability to raise on-time performance.</a:t>
            </a:r>
          </a:p>
          <a:p>
            <a:pPr>
              <a:spcAft>
                <a:spcPts val="900"/>
              </a:spcAft>
              <a:defRPr sz="1300">
                <a:solidFill>
                  <a:srgbClr val="122028"/>
                </a:solidFill>
              </a:defRPr>
            </a:pPr>
            <a:r>
              <a:t>• Target regular customers with loyalty and repeat-order campaigns.</a:t>
            </a:r>
          </a:p>
          <a:p>
            <a:pPr>
              <a:spcAft>
                <a:spcPts val="900"/>
              </a:spcAft>
              <a:defRPr sz="1300">
                <a:solidFill>
                  <a:srgbClr val="122028"/>
                </a:solidFill>
              </a:defRPr>
            </a:pPr>
            <a:r>
              <a:t>• Monitor cancellations and returned orders as operational warning indicators.</a:t>
            </a:r>
          </a:p>
        </p:txBody>
      </p:sp>
      <p:sp>
        <p:nvSpPr>
          <p:cNvPr id="8" name="Rounded Rectangle 7"/>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 The analysis highlights several business opportunities. High-performing cuisines and cities can receive targeted promotions, dominant payment methods can be supported with offers, regular customers can be encouraged through loyalty programs, and delivery or cancellation problems can be monitored as early warning signals.</a:t>
            </a:r>
          </a:p>
        </p:txBody>
      </p:sp>
      <p:sp>
        <p:nvSpPr>
          <p:cNvPr id="9" name="TextBox 8"/>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9. Data Preparation &amp; Cleaning</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Turning raw records into analysis-ready information</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6400800" cy="4389120"/>
          </a:xfrm>
          <a:prstGeom prst="rect">
            <a:avLst/>
          </a:prstGeom>
          <a:noFill/>
        </p:spPr>
        <p:txBody>
          <a:bodyPr wrap="square">
            <a:spAutoFit/>
          </a:bodyPr>
          <a:lstStyle/>
          <a:p>
            <a:pPr>
              <a:spcAft>
                <a:spcPts val="900"/>
              </a:spcAft>
              <a:defRPr sz="1450">
                <a:solidFill>
                  <a:srgbClr val="122028"/>
                </a:solidFill>
                <a:latin typeface="Aptos"/>
              </a:defRPr>
            </a:pPr>
            <a:r>
              <a:t>• Checked the dataset structure and identified important fields for orders, customers, restaurants, food items and transactions.</a:t>
            </a:r>
          </a:p>
          <a:p>
            <a:pPr>
              <a:spcAft>
                <a:spcPts val="900"/>
              </a:spcAft>
              <a:defRPr sz="1450">
                <a:solidFill>
                  <a:srgbClr val="122028"/>
                </a:solidFill>
                <a:latin typeface="Aptos"/>
              </a:defRPr>
            </a:pPr>
            <a:r>
              <a:t>• Reviewed missing, duplicate or inconsistent values before using the data for analysis.</a:t>
            </a:r>
          </a:p>
          <a:p>
            <a:pPr>
              <a:spcAft>
                <a:spcPts val="900"/>
              </a:spcAft>
              <a:defRPr sz="1450">
                <a:solidFill>
                  <a:srgbClr val="122028"/>
                </a:solidFill>
                <a:latin typeface="Aptos"/>
              </a:defRPr>
            </a:pPr>
            <a:r>
              <a:t>• Standardized categories such as cuisine, city, payment method and order status.</a:t>
            </a:r>
          </a:p>
          <a:p>
            <a:pPr>
              <a:spcAft>
                <a:spcPts val="900"/>
              </a:spcAft>
              <a:defRPr sz="1450">
                <a:solidFill>
                  <a:srgbClr val="122028"/>
                </a:solidFill>
                <a:latin typeface="Aptos"/>
              </a:defRPr>
            </a:pPr>
            <a:r>
              <a:t>• Verified numeric fields such as sales, revenue, quantity, delivery time and ratings.</a:t>
            </a:r>
          </a:p>
          <a:p>
            <a:pPr>
              <a:spcAft>
                <a:spcPts val="900"/>
              </a:spcAft>
              <a:defRPr sz="1450">
                <a:solidFill>
                  <a:srgbClr val="122028"/>
                </a:solidFill>
                <a:latin typeface="Aptos"/>
              </a:defRPr>
            </a:pPr>
            <a:r>
              <a:t>• Created summary calculations and Pivot-style analysis sheets for dashboard reporting.</a:t>
            </a:r>
          </a:p>
        </p:txBody>
      </p:sp>
      <p:sp>
        <p:nvSpPr>
          <p:cNvPr id="7" name="Rounded Rectangle 6"/>
          <p:cNvSpPr/>
          <p:nvPr/>
        </p:nvSpPr>
        <p:spPr>
          <a:xfrm>
            <a:off x="7543800" y="1417320"/>
            <a:ext cx="338328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STEP 1</a:t>
            </a:r>
          </a:p>
          <a:p>
            <a:pPr>
              <a:defRPr sz="2000" b="1">
                <a:solidFill>
                  <a:srgbClr val="122028"/>
                </a:solidFill>
              </a:defRPr>
            </a:pPr>
            <a:r>
              <a:t>Clean</a:t>
            </a:r>
          </a:p>
          <a:p>
            <a:pPr>
              <a:defRPr sz="850">
                <a:solidFill>
                  <a:srgbClr val="5F6970"/>
                </a:solidFill>
              </a:defRPr>
            </a:pPr>
            <a:r>
              <a:t>Improve data quality</a:t>
            </a:r>
          </a:p>
        </p:txBody>
      </p:sp>
      <p:sp>
        <p:nvSpPr>
          <p:cNvPr id="8" name="Rectangle 7"/>
          <p:cNvSpPr/>
          <p:nvPr/>
        </p:nvSpPr>
        <p:spPr>
          <a:xfrm>
            <a:off x="7543800" y="1417320"/>
            <a:ext cx="64008" cy="1143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43800" y="2788920"/>
            <a:ext cx="338328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STEP 2</a:t>
            </a:r>
          </a:p>
          <a:p>
            <a:pPr>
              <a:defRPr sz="2000" b="1">
                <a:solidFill>
                  <a:srgbClr val="122028"/>
                </a:solidFill>
              </a:defRPr>
            </a:pPr>
            <a:r>
              <a:t>Transform</a:t>
            </a:r>
          </a:p>
          <a:p>
            <a:pPr>
              <a:defRPr sz="850">
                <a:solidFill>
                  <a:srgbClr val="5F6970"/>
                </a:solidFill>
              </a:defRPr>
            </a:pPr>
            <a:r>
              <a:t>Create analysis-ready fields</a:t>
            </a:r>
          </a:p>
        </p:txBody>
      </p:sp>
      <p:sp>
        <p:nvSpPr>
          <p:cNvPr id="10" name="Rectangle 9"/>
          <p:cNvSpPr/>
          <p:nvPr/>
        </p:nvSpPr>
        <p:spPr>
          <a:xfrm>
            <a:off x="7543800" y="2788920"/>
            <a:ext cx="64008" cy="1143000"/>
          </a:xfrm>
          <a:prstGeom prst="rect">
            <a:avLst/>
          </a:prstGeom>
          <a:solidFill>
            <a:srgbClr val="1F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543800" y="4160520"/>
            <a:ext cx="338328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STEP 3</a:t>
            </a:r>
          </a:p>
          <a:p>
            <a:pPr>
              <a:defRPr sz="2000" b="1">
                <a:solidFill>
                  <a:srgbClr val="122028"/>
                </a:solidFill>
              </a:defRPr>
            </a:pPr>
            <a:r>
              <a:t>Summarize</a:t>
            </a:r>
          </a:p>
          <a:p>
            <a:pPr>
              <a:defRPr sz="850">
                <a:solidFill>
                  <a:srgbClr val="5F6970"/>
                </a:solidFill>
              </a:defRPr>
            </a:pPr>
            <a:r>
              <a:t>Build KPIs and Pivot analysis</a:t>
            </a:r>
          </a:p>
        </p:txBody>
      </p:sp>
      <p:sp>
        <p:nvSpPr>
          <p:cNvPr id="12" name="Rectangle 11"/>
          <p:cNvSpPr/>
          <p:nvPr/>
        </p:nvSpPr>
        <p:spPr>
          <a:xfrm>
            <a:off x="7543800" y="4160520"/>
            <a:ext cx="64008" cy="1143000"/>
          </a:xfrm>
          <a:prstGeom prst="rect">
            <a:avLst/>
          </a:prstGeom>
          <a:solidFill>
            <a:srgbClr val="1D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Before building charts, data quality is critical. Cleaning and standardization make sure that categories are counted correctly and that the dashboard represents the underlying business data rather than errors in the source.</a:t>
            </a:r>
          </a:p>
        </p:txBody>
      </p:sp>
      <p:sp>
        <p:nvSpPr>
          <p:cNvPr id="14" name="TextBox 13"/>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10. Analytical Methodology</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How the project moves from raw data to business insight</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417320"/>
            <a:ext cx="3429000" cy="15087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777240" tIns="164592" rtlCol="0" anchor="ctr"/>
          <a:lstStyle/>
          <a:p>
            <a:pPr algn="ctr">
              <a:defRPr sz="1600" b="1">
                <a:solidFill>
                  <a:srgbClr val="122028"/>
                </a:solidFill>
              </a:defRPr>
            </a:pPr>
            <a:r>
              <a:t>Understand</a:t>
            </a:r>
          </a:p>
          <a:p>
            <a:pPr>
              <a:defRPr sz="1050">
                <a:solidFill>
                  <a:srgbClr val="5F6970"/>
                </a:solidFill>
              </a:defRPr>
            </a:pPr>
            <a:r>
              <a:t>Identify business questions and important fields.</a:t>
            </a:r>
          </a:p>
        </p:txBody>
      </p:sp>
      <p:sp>
        <p:nvSpPr>
          <p:cNvPr id="7" name="Oval 6"/>
          <p:cNvSpPr/>
          <p:nvPr/>
        </p:nvSpPr>
        <p:spPr>
          <a:xfrm>
            <a:off x="758952" y="1618488"/>
            <a:ext cx="475488" cy="475488"/>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1</a:t>
            </a:r>
          </a:p>
        </p:txBody>
      </p:sp>
      <p:sp>
        <p:nvSpPr>
          <p:cNvPr id="8" name="Rounded Rectangle 7"/>
          <p:cNvSpPr/>
          <p:nvPr/>
        </p:nvSpPr>
        <p:spPr>
          <a:xfrm>
            <a:off x="4389120" y="1417320"/>
            <a:ext cx="3429000" cy="15087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777240" tIns="164592" rtlCol="0" anchor="ctr"/>
          <a:lstStyle/>
          <a:p>
            <a:pPr algn="ctr">
              <a:defRPr sz="1600" b="1">
                <a:solidFill>
                  <a:srgbClr val="122028"/>
                </a:solidFill>
              </a:defRPr>
            </a:pPr>
            <a:r>
              <a:t>Prepare</a:t>
            </a:r>
          </a:p>
          <a:p>
            <a:pPr>
              <a:defRPr sz="1050">
                <a:solidFill>
                  <a:srgbClr val="5F6970"/>
                </a:solidFill>
              </a:defRPr>
            </a:pPr>
            <a:r>
              <a:t>Clean and organize the transaction data.</a:t>
            </a:r>
          </a:p>
        </p:txBody>
      </p:sp>
      <p:sp>
        <p:nvSpPr>
          <p:cNvPr id="9" name="Oval 8"/>
          <p:cNvSpPr/>
          <p:nvPr/>
        </p:nvSpPr>
        <p:spPr>
          <a:xfrm>
            <a:off x="4553712" y="1618488"/>
            <a:ext cx="475488" cy="475488"/>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2</a:t>
            </a:r>
          </a:p>
        </p:txBody>
      </p:sp>
      <p:sp>
        <p:nvSpPr>
          <p:cNvPr id="10" name="Rounded Rectangle 9"/>
          <p:cNvSpPr/>
          <p:nvPr/>
        </p:nvSpPr>
        <p:spPr>
          <a:xfrm>
            <a:off x="8183880" y="1417320"/>
            <a:ext cx="3429000" cy="15087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777240" tIns="164592" rtlCol="0" anchor="ctr"/>
          <a:lstStyle/>
          <a:p>
            <a:pPr algn="ctr">
              <a:defRPr sz="1600" b="1">
                <a:solidFill>
                  <a:srgbClr val="122028"/>
                </a:solidFill>
              </a:defRPr>
            </a:pPr>
            <a:r>
              <a:t>Calculate</a:t>
            </a:r>
          </a:p>
          <a:p>
            <a:pPr>
              <a:defRPr sz="1050">
                <a:solidFill>
                  <a:srgbClr val="5F6970"/>
                </a:solidFill>
              </a:defRPr>
            </a:pPr>
            <a:r>
              <a:t>Create KPIs, ratios and summary measures.</a:t>
            </a:r>
          </a:p>
        </p:txBody>
      </p:sp>
      <p:sp>
        <p:nvSpPr>
          <p:cNvPr id="11" name="Oval 10"/>
          <p:cNvSpPr/>
          <p:nvPr/>
        </p:nvSpPr>
        <p:spPr>
          <a:xfrm>
            <a:off x="8348472" y="1618488"/>
            <a:ext cx="475488" cy="475488"/>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3</a:t>
            </a:r>
          </a:p>
        </p:txBody>
      </p:sp>
      <p:sp>
        <p:nvSpPr>
          <p:cNvPr id="12" name="Rounded Rectangle 11"/>
          <p:cNvSpPr/>
          <p:nvPr/>
        </p:nvSpPr>
        <p:spPr>
          <a:xfrm>
            <a:off x="594360" y="3474720"/>
            <a:ext cx="3429000" cy="15087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777240" tIns="164592" rtlCol="0" anchor="ctr"/>
          <a:lstStyle/>
          <a:p>
            <a:pPr algn="ctr">
              <a:defRPr sz="1600" b="1">
                <a:solidFill>
                  <a:srgbClr val="122028"/>
                </a:solidFill>
              </a:defRPr>
            </a:pPr>
            <a:r>
              <a:t>Analyze</a:t>
            </a:r>
          </a:p>
          <a:p>
            <a:pPr>
              <a:defRPr sz="1050">
                <a:solidFill>
                  <a:srgbClr val="5F6970"/>
                </a:solidFill>
              </a:defRPr>
            </a:pPr>
            <a:r>
              <a:t>Compare trends, categories, cities and segments.</a:t>
            </a:r>
          </a:p>
        </p:txBody>
      </p:sp>
      <p:sp>
        <p:nvSpPr>
          <p:cNvPr id="13" name="Oval 12"/>
          <p:cNvSpPr/>
          <p:nvPr/>
        </p:nvSpPr>
        <p:spPr>
          <a:xfrm>
            <a:off x="758952" y="3675887"/>
            <a:ext cx="475488" cy="475488"/>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4</a:t>
            </a:r>
          </a:p>
        </p:txBody>
      </p:sp>
      <p:sp>
        <p:nvSpPr>
          <p:cNvPr id="14" name="Rounded Rectangle 13"/>
          <p:cNvSpPr/>
          <p:nvPr/>
        </p:nvSpPr>
        <p:spPr>
          <a:xfrm>
            <a:off x="4389120" y="3474720"/>
            <a:ext cx="3429000" cy="15087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777240" tIns="164592" rtlCol="0" anchor="ctr"/>
          <a:lstStyle/>
          <a:p>
            <a:pPr algn="ctr">
              <a:defRPr sz="1600" b="1">
                <a:solidFill>
                  <a:srgbClr val="122028"/>
                </a:solidFill>
              </a:defRPr>
            </a:pPr>
            <a:r>
              <a:t>Visualize</a:t>
            </a:r>
          </a:p>
          <a:p>
            <a:pPr>
              <a:defRPr sz="1050">
                <a:solidFill>
                  <a:srgbClr val="5F6970"/>
                </a:solidFill>
              </a:defRPr>
            </a:pPr>
            <a:r>
              <a:t>Build charts and an executive dashboard.</a:t>
            </a:r>
          </a:p>
        </p:txBody>
      </p:sp>
      <p:sp>
        <p:nvSpPr>
          <p:cNvPr id="15" name="Oval 14"/>
          <p:cNvSpPr/>
          <p:nvPr/>
        </p:nvSpPr>
        <p:spPr>
          <a:xfrm>
            <a:off x="4553712" y="3675887"/>
            <a:ext cx="475488" cy="475488"/>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5</a:t>
            </a:r>
          </a:p>
        </p:txBody>
      </p:sp>
      <p:sp>
        <p:nvSpPr>
          <p:cNvPr id="16" name="Rounded Rectangle 15"/>
          <p:cNvSpPr/>
          <p:nvPr/>
        </p:nvSpPr>
        <p:spPr>
          <a:xfrm>
            <a:off x="8183880" y="3474720"/>
            <a:ext cx="3429000" cy="15087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777240" tIns="164592" rtlCol="0" anchor="ctr"/>
          <a:lstStyle/>
          <a:p>
            <a:pPr algn="ctr">
              <a:defRPr sz="1600" b="1">
                <a:solidFill>
                  <a:srgbClr val="122028"/>
                </a:solidFill>
              </a:defRPr>
            </a:pPr>
            <a:r>
              <a:t>Interpret</a:t>
            </a:r>
          </a:p>
          <a:p>
            <a:pPr>
              <a:defRPr sz="1050">
                <a:solidFill>
                  <a:srgbClr val="5F6970"/>
                </a:solidFill>
              </a:defRPr>
            </a:pPr>
            <a:r>
              <a:t>Convert patterns into recommendations.</a:t>
            </a:r>
          </a:p>
        </p:txBody>
      </p:sp>
      <p:sp>
        <p:nvSpPr>
          <p:cNvPr id="17" name="Oval 16"/>
          <p:cNvSpPr/>
          <p:nvPr/>
        </p:nvSpPr>
        <p:spPr>
          <a:xfrm>
            <a:off x="8348472" y="3675887"/>
            <a:ext cx="475488" cy="475488"/>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6</a:t>
            </a:r>
          </a:p>
        </p:txBody>
      </p:sp>
      <p:sp>
        <p:nvSpPr>
          <p:cNvPr id="18" name="Rounded Rectangle 17"/>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 The methodology follows a structured analytics pipeline. Instead of creating charts directly from raw data, the project first establishes data quality, then calculates reliable measures, identifies patterns and finally translates those patterns into business recommendations.</a:t>
            </a:r>
          </a:p>
        </p:txBody>
      </p:sp>
      <p:sp>
        <p:nvSpPr>
          <p:cNvPr id="19" name="TextBox 18"/>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11. Customer Segmentation &amp; Retention</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Understanding customer groups for targeted marketing</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371600"/>
            <a:ext cx="5166360" cy="15544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New Customers</a:t>
            </a:r>
          </a:p>
          <a:p>
            <a:pPr>
              <a:defRPr sz="2000" b="1">
                <a:solidFill>
                  <a:srgbClr val="122028"/>
                </a:solidFill>
              </a:defRPr>
            </a:pPr>
            <a:r>
              <a:t>Acquisition</a:t>
            </a:r>
          </a:p>
          <a:p>
            <a:pPr>
              <a:defRPr sz="850">
                <a:solidFill>
                  <a:srgbClr val="5F6970"/>
                </a:solidFill>
              </a:defRPr>
            </a:pPr>
            <a:r>
              <a:t>Welcome offers and first-order incentives</a:t>
            </a:r>
          </a:p>
        </p:txBody>
      </p:sp>
      <p:sp>
        <p:nvSpPr>
          <p:cNvPr id="7" name="Rectangle 6"/>
          <p:cNvSpPr/>
          <p:nvPr/>
        </p:nvSpPr>
        <p:spPr>
          <a:xfrm>
            <a:off x="594360" y="1371600"/>
            <a:ext cx="64008" cy="155448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72200" y="1371600"/>
            <a:ext cx="5166360" cy="15544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Regular Customers</a:t>
            </a:r>
          </a:p>
          <a:p>
            <a:pPr>
              <a:defRPr sz="2000" b="1">
                <a:solidFill>
                  <a:srgbClr val="122028"/>
                </a:solidFill>
              </a:defRPr>
            </a:pPr>
            <a:r>
              <a:t>Core base</a:t>
            </a:r>
          </a:p>
          <a:p>
            <a:pPr>
              <a:defRPr sz="850">
                <a:solidFill>
                  <a:srgbClr val="5F6970"/>
                </a:solidFill>
              </a:defRPr>
            </a:pPr>
            <a:r>
              <a:t>Loyalty rewards and repeat-order offers</a:t>
            </a:r>
          </a:p>
        </p:txBody>
      </p:sp>
      <p:sp>
        <p:nvSpPr>
          <p:cNvPr id="9" name="Rectangle 8"/>
          <p:cNvSpPr/>
          <p:nvPr/>
        </p:nvSpPr>
        <p:spPr>
          <a:xfrm>
            <a:off x="6172200" y="1371600"/>
            <a:ext cx="64008" cy="1554480"/>
          </a:xfrm>
          <a:prstGeom prst="rect">
            <a:avLst/>
          </a:prstGeom>
          <a:solidFill>
            <a:srgbClr val="1D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94360" y="3429000"/>
            <a:ext cx="5166360" cy="15544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Premium Customers</a:t>
            </a:r>
          </a:p>
          <a:p>
            <a:pPr>
              <a:defRPr sz="2000" b="1">
                <a:solidFill>
                  <a:srgbClr val="122028"/>
                </a:solidFill>
              </a:defRPr>
            </a:pPr>
            <a:r>
              <a:t>High value</a:t>
            </a:r>
          </a:p>
          <a:p>
            <a:pPr>
              <a:defRPr sz="850">
                <a:solidFill>
                  <a:srgbClr val="5F6970"/>
                </a:solidFill>
              </a:defRPr>
            </a:pPr>
            <a:r>
              <a:t>Personalized benefits and premium experiences</a:t>
            </a:r>
          </a:p>
        </p:txBody>
      </p:sp>
      <p:sp>
        <p:nvSpPr>
          <p:cNvPr id="11" name="Rectangle 10"/>
          <p:cNvSpPr/>
          <p:nvPr/>
        </p:nvSpPr>
        <p:spPr>
          <a:xfrm>
            <a:off x="594360" y="3429000"/>
            <a:ext cx="64008" cy="1554480"/>
          </a:xfrm>
          <a:prstGeom prst="rect">
            <a:avLst/>
          </a:prstGeom>
          <a:solidFill>
            <a:srgbClr val="1F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172200" y="3429000"/>
            <a:ext cx="5166360" cy="15544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VIP Customers</a:t>
            </a:r>
          </a:p>
          <a:p>
            <a:pPr>
              <a:defRPr sz="2000" b="1">
                <a:solidFill>
                  <a:srgbClr val="122028"/>
                </a:solidFill>
              </a:defRPr>
            </a:pPr>
            <a:r>
              <a:t>Highest priority</a:t>
            </a:r>
          </a:p>
          <a:p>
            <a:pPr>
              <a:defRPr sz="850">
                <a:solidFill>
                  <a:srgbClr val="5F6970"/>
                </a:solidFill>
              </a:defRPr>
            </a:pPr>
            <a:r>
              <a:t>Exclusive offers and retention campaigns</a:t>
            </a:r>
          </a:p>
        </p:txBody>
      </p:sp>
      <p:sp>
        <p:nvSpPr>
          <p:cNvPr id="13" name="Rectangle 12"/>
          <p:cNvSpPr/>
          <p:nvPr/>
        </p:nvSpPr>
        <p:spPr>
          <a:xfrm>
            <a:off x="6172200" y="3429000"/>
            <a:ext cx="64008" cy="1554480"/>
          </a:xfrm>
          <a:prstGeom prst="rect">
            <a:avLst/>
          </a:prstGeom>
          <a:solidFill>
            <a:srgbClr val="D24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5440680"/>
            <a:ext cx="10515600" cy="411480"/>
          </a:xfrm>
          <a:prstGeom prst="rect">
            <a:avLst/>
          </a:prstGeom>
          <a:noFill/>
        </p:spPr>
        <p:txBody>
          <a:bodyPr wrap="square">
            <a:spAutoFit/>
          </a:bodyPr>
          <a:lstStyle/>
          <a:p>
            <a:pPr>
              <a:spcAft>
                <a:spcPts val="900"/>
              </a:spcAft>
              <a:defRPr sz="1050">
                <a:solidFill>
                  <a:srgbClr val="122028"/>
                </a:solidFill>
                <a:latin typeface="Aptos"/>
              </a:defRPr>
            </a:pPr>
            <a:r>
              <a:t>• Segmentation helps avoid sending the same offer to every customer.</a:t>
            </a:r>
          </a:p>
          <a:p>
            <a:pPr>
              <a:spcAft>
                <a:spcPts val="900"/>
              </a:spcAft>
              <a:defRPr sz="1050">
                <a:solidFill>
                  <a:srgbClr val="122028"/>
                </a:solidFill>
                <a:latin typeface="Aptos"/>
              </a:defRPr>
            </a:pPr>
            <a:r>
              <a:t>• The strongest retention opportunity is to move regular customers toward higher-value behavior.</a:t>
            </a:r>
          </a:p>
          <a:p>
            <a:pPr>
              <a:spcAft>
                <a:spcPts val="900"/>
              </a:spcAft>
              <a:defRPr sz="1050">
                <a:solidFill>
                  <a:srgbClr val="122028"/>
                </a:solidFill>
                <a:latin typeface="Aptos"/>
              </a:defRPr>
            </a:pPr>
            <a:r>
              <a:t>• Customer-level analysis can later be combined with purchase frequency and average order value.</a:t>
            </a:r>
          </a:p>
        </p:txBody>
      </p:sp>
      <p:sp>
        <p:nvSpPr>
          <p:cNvPr id="15" name="Rounded Rectangle 14"/>
          <p:cNvSpPr/>
          <p:nvPr/>
        </p:nvSpPr>
        <p:spPr>
          <a:xfrm>
            <a:off x="480060" y="6255394"/>
            <a:ext cx="11384280" cy="502920"/>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Customer segmentation changes the dashboard from simple reporting into a marketing decision tool. Each segment can receive a different strategy, improving relevance, retention and the probability of repeat orders.</a:t>
            </a:r>
          </a:p>
        </p:txBody>
      </p:sp>
      <p:sp>
        <p:nvSpPr>
          <p:cNvPr id="16" name="TextBox 15"/>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12. Restaurant Performance Analysis</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Identifying high-demand restaurant patterns</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325880"/>
            <a:ext cx="5760720" cy="4480560"/>
          </a:xfrm>
          <a:prstGeom prst="rect">
            <a:avLst/>
          </a:prstGeom>
          <a:noFill/>
        </p:spPr>
        <p:txBody>
          <a:bodyPr wrap="square">
            <a:spAutoFit/>
          </a:bodyPr>
          <a:lstStyle/>
          <a:p>
            <a:pPr>
              <a:spcAft>
                <a:spcPts val="900"/>
              </a:spcAft>
              <a:defRPr sz="1400">
                <a:solidFill>
                  <a:srgbClr val="122028"/>
                </a:solidFill>
                <a:latin typeface="Aptos"/>
              </a:defRPr>
            </a:pPr>
            <a:r>
              <a:t>• Top restaurant rankings show where order demand is concentrated.</a:t>
            </a:r>
          </a:p>
          <a:p>
            <a:pPr>
              <a:spcAft>
                <a:spcPts val="900"/>
              </a:spcAft>
              <a:defRPr sz="1400">
                <a:solidFill>
                  <a:srgbClr val="122028"/>
                </a:solidFill>
                <a:latin typeface="Aptos"/>
              </a:defRPr>
            </a:pPr>
            <a:r>
              <a:t>• Restaurant performance can be compared using order volume, revenue, average order value and customer ratings.</a:t>
            </a:r>
          </a:p>
          <a:p>
            <a:pPr>
              <a:spcAft>
                <a:spcPts val="900"/>
              </a:spcAft>
              <a:defRPr sz="1400">
                <a:solidFill>
                  <a:srgbClr val="122028"/>
                </a:solidFill>
                <a:latin typeface="Aptos"/>
              </a:defRPr>
            </a:pPr>
            <a:r>
              <a:t>• Low-performing restaurants can be investigated for pricing, menu, delivery time or customer-experience issues.</a:t>
            </a:r>
          </a:p>
          <a:p>
            <a:pPr>
              <a:spcAft>
                <a:spcPts val="900"/>
              </a:spcAft>
              <a:defRPr sz="1400">
                <a:solidFill>
                  <a:srgbClr val="122028"/>
                </a:solidFill>
                <a:latin typeface="Aptos"/>
              </a:defRPr>
            </a:pPr>
            <a:r>
              <a:t>• High-performing restaurants can become candidates for campaigns, featured placement and strategic partnerships.</a:t>
            </a:r>
          </a:p>
        </p:txBody>
      </p:sp>
      <p:sp>
        <p:nvSpPr>
          <p:cNvPr id="7" name="Rounded Rectangle 6"/>
          <p:cNvSpPr/>
          <p:nvPr/>
        </p:nvSpPr>
        <p:spPr>
          <a:xfrm>
            <a:off x="6858000" y="1417320"/>
            <a:ext cx="402336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MANAGEMENT QUESTION</a:t>
            </a:r>
          </a:p>
          <a:p>
            <a:pPr>
              <a:defRPr sz="2000" b="1">
                <a:solidFill>
                  <a:srgbClr val="122028"/>
                </a:solidFill>
              </a:defRPr>
            </a:pPr>
            <a:r>
              <a:t>Who is driving demand?</a:t>
            </a:r>
          </a:p>
          <a:p>
            <a:pPr>
              <a:defRPr sz="850">
                <a:solidFill>
                  <a:srgbClr val="5F6970"/>
                </a:solidFill>
              </a:defRPr>
            </a:pPr>
            <a:r>
              <a:t>Use ranking and trend analysis</a:t>
            </a:r>
          </a:p>
        </p:txBody>
      </p:sp>
      <p:sp>
        <p:nvSpPr>
          <p:cNvPr id="8" name="Rectangle 7"/>
          <p:cNvSpPr/>
          <p:nvPr/>
        </p:nvSpPr>
        <p:spPr>
          <a:xfrm>
            <a:off x="6858000" y="1417320"/>
            <a:ext cx="64008" cy="1143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0" y="2834640"/>
            <a:ext cx="402336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MANAGEMENT QUESTION</a:t>
            </a:r>
          </a:p>
          <a:p>
            <a:pPr>
              <a:defRPr sz="2000" b="1">
                <a:solidFill>
                  <a:srgbClr val="122028"/>
                </a:solidFill>
              </a:defRPr>
            </a:pPr>
            <a:r>
              <a:t>Where is performance weak?</a:t>
            </a:r>
          </a:p>
          <a:p>
            <a:pPr>
              <a:defRPr sz="850">
                <a:solidFill>
                  <a:srgbClr val="5F6970"/>
                </a:solidFill>
              </a:defRPr>
            </a:pPr>
            <a:r>
              <a:t>Compare cities and service metrics</a:t>
            </a:r>
          </a:p>
        </p:txBody>
      </p:sp>
      <p:sp>
        <p:nvSpPr>
          <p:cNvPr id="10" name="Rectangle 9"/>
          <p:cNvSpPr/>
          <p:nvPr/>
        </p:nvSpPr>
        <p:spPr>
          <a:xfrm>
            <a:off x="6858000" y="2834640"/>
            <a:ext cx="64008" cy="1143000"/>
          </a:xfrm>
          <a:prstGeom prst="rect">
            <a:avLst/>
          </a:prstGeom>
          <a:solidFill>
            <a:srgbClr val="D24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858000" y="4251960"/>
            <a:ext cx="4023360" cy="114300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MANAGEMENT QUESTION</a:t>
            </a:r>
          </a:p>
          <a:p>
            <a:pPr>
              <a:defRPr sz="2000" b="1">
                <a:solidFill>
                  <a:srgbClr val="122028"/>
                </a:solidFill>
              </a:defRPr>
            </a:pPr>
            <a:r>
              <a:t>How can we grow?</a:t>
            </a:r>
          </a:p>
          <a:p>
            <a:pPr>
              <a:defRPr sz="850">
                <a:solidFill>
                  <a:srgbClr val="5F6970"/>
                </a:solidFill>
              </a:defRPr>
            </a:pPr>
            <a:r>
              <a:t>Promote proven performers</a:t>
            </a:r>
          </a:p>
        </p:txBody>
      </p:sp>
      <p:sp>
        <p:nvSpPr>
          <p:cNvPr id="12" name="Rectangle 11"/>
          <p:cNvSpPr/>
          <p:nvPr/>
        </p:nvSpPr>
        <p:spPr>
          <a:xfrm>
            <a:off x="6858000" y="4251960"/>
            <a:ext cx="64008" cy="1143000"/>
          </a:xfrm>
          <a:prstGeom prst="rect">
            <a:avLst/>
          </a:prstGeom>
          <a:solidFill>
            <a:srgbClr val="1D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 Restaurant analysis can help the business decide which partners to support, which locations need attention and where additional restaurant acquisition may create the greatest impact.</a:t>
            </a:r>
          </a:p>
        </p:txBody>
      </p:sp>
      <p:sp>
        <p:nvSpPr>
          <p:cNvPr id="14" name="TextBox 13"/>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13. Payment &amp; Delivery Experience</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Connecting transaction behavior with customer experience</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371600"/>
            <a:ext cx="3246120" cy="13258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PAYMENT BEHAVIOR</a:t>
            </a:r>
          </a:p>
          <a:p>
            <a:pPr>
              <a:defRPr sz="2000" b="1">
                <a:solidFill>
                  <a:srgbClr val="122028"/>
                </a:solidFill>
              </a:defRPr>
            </a:pPr>
            <a:r>
              <a:t>UPI-led</a:t>
            </a:r>
          </a:p>
          <a:p>
            <a:pPr>
              <a:defRPr sz="850">
                <a:solidFill>
                  <a:srgbClr val="5F6970"/>
                </a:solidFill>
              </a:defRPr>
            </a:pPr>
            <a:r>
              <a:t>Digital payments are a major part of the order journey</a:t>
            </a:r>
          </a:p>
        </p:txBody>
      </p:sp>
      <p:sp>
        <p:nvSpPr>
          <p:cNvPr id="7" name="Rectangle 6"/>
          <p:cNvSpPr/>
          <p:nvPr/>
        </p:nvSpPr>
        <p:spPr>
          <a:xfrm>
            <a:off x="685800" y="1371600"/>
            <a:ext cx="64008" cy="1325880"/>
          </a:xfrm>
          <a:prstGeom prst="rect">
            <a:avLst/>
          </a:prstGeom>
          <a:solidFill>
            <a:srgbClr val="1F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160520" y="1371600"/>
            <a:ext cx="3246120" cy="13258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DELIVERY</a:t>
            </a:r>
          </a:p>
          <a:p>
            <a:pPr>
              <a:defRPr sz="2000" b="1">
                <a:solidFill>
                  <a:srgbClr val="122028"/>
                </a:solidFill>
              </a:defRPr>
            </a:pPr>
            <a:r>
              <a:t>Monitor time</a:t>
            </a:r>
          </a:p>
          <a:p>
            <a:pPr>
              <a:defRPr sz="850">
                <a:solidFill>
                  <a:srgbClr val="5F6970"/>
                </a:solidFill>
              </a:defRPr>
            </a:pPr>
            <a:r>
              <a:t>Track average and on-time performance</a:t>
            </a:r>
          </a:p>
        </p:txBody>
      </p:sp>
      <p:sp>
        <p:nvSpPr>
          <p:cNvPr id="9" name="Rectangle 8"/>
          <p:cNvSpPr/>
          <p:nvPr/>
        </p:nvSpPr>
        <p:spPr>
          <a:xfrm>
            <a:off x="4160520" y="1371600"/>
            <a:ext cx="64008" cy="132588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635240" y="1371600"/>
            <a:ext cx="3246120" cy="132588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64592" tIns="109728" rtlCol="0" anchor="ctr"/>
          <a:lstStyle/>
          <a:p>
            <a:pPr algn="ctr">
              <a:defRPr sz="950" b="1">
                <a:solidFill>
                  <a:srgbClr val="5F6970"/>
                </a:solidFill>
              </a:defRPr>
            </a:pPr>
            <a:r>
              <a:t>SERVICE QUALITY</a:t>
            </a:r>
          </a:p>
          <a:p>
            <a:pPr>
              <a:defRPr sz="2000" b="1">
                <a:solidFill>
                  <a:srgbClr val="122028"/>
                </a:solidFill>
              </a:defRPr>
            </a:pPr>
            <a:r>
              <a:t>Track rating</a:t>
            </a:r>
          </a:p>
          <a:p>
            <a:pPr>
              <a:defRPr sz="850">
                <a:solidFill>
                  <a:srgbClr val="5F6970"/>
                </a:solidFill>
              </a:defRPr>
            </a:pPr>
            <a:r>
              <a:t>Customer feedback is a quality signal</a:t>
            </a:r>
          </a:p>
        </p:txBody>
      </p:sp>
      <p:sp>
        <p:nvSpPr>
          <p:cNvPr id="11" name="Rectangle 10"/>
          <p:cNvSpPr/>
          <p:nvPr/>
        </p:nvSpPr>
        <p:spPr>
          <a:xfrm>
            <a:off x="7635240" y="1371600"/>
            <a:ext cx="64008" cy="1325880"/>
          </a:xfrm>
          <a:prstGeom prst="rect">
            <a:avLst/>
          </a:prstGeom>
          <a:solidFill>
            <a:srgbClr val="1D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154680"/>
            <a:ext cx="10332720" cy="2331720"/>
          </a:xfrm>
          <a:prstGeom prst="rect">
            <a:avLst/>
          </a:prstGeom>
          <a:noFill/>
        </p:spPr>
        <p:txBody>
          <a:bodyPr wrap="square">
            <a:spAutoFit/>
          </a:bodyPr>
          <a:lstStyle/>
          <a:p>
            <a:pPr>
              <a:spcAft>
                <a:spcPts val="900"/>
              </a:spcAft>
              <a:defRPr sz="1500">
                <a:solidFill>
                  <a:srgbClr val="122028"/>
                </a:solidFill>
                <a:latin typeface="Aptos"/>
              </a:defRPr>
            </a:pPr>
            <a:r>
              <a:t>• Payment analysis can guide cashback, coupons and payment-partner campaigns.</a:t>
            </a:r>
          </a:p>
          <a:p>
            <a:pPr>
              <a:spcAft>
                <a:spcPts val="900"/>
              </a:spcAft>
              <a:defRPr sz="1500">
                <a:solidFill>
                  <a:srgbClr val="122028"/>
                </a:solidFill>
                <a:latin typeface="Aptos"/>
              </a:defRPr>
            </a:pPr>
            <a:r>
              <a:t>• Delivery-time analysis can reveal operational bottlenecks.</a:t>
            </a:r>
          </a:p>
          <a:p>
            <a:pPr>
              <a:spcAft>
                <a:spcPts val="900"/>
              </a:spcAft>
              <a:defRPr sz="1500">
                <a:solidFill>
                  <a:srgbClr val="122028"/>
                </a:solidFill>
                <a:latin typeface="Aptos"/>
              </a:defRPr>
            </a:pPr>
            <a:r>
              <a:t>• Ratings and cancellations provide customer-experience feedback.</a:t>
            </a:r>
          </a:p>
          <a:p>
            <a:pPr>
              <a:spcAft>
                <a:spcPts val="900"/>
              </a:spcAft>
              <a:defRPr sz="1500">
                <a:solidFill>
                  <a:srgbClr val="122028"/>
                </a:solidFill>
                <a:latin typeface="Aptos"/>
              </a:defRPr>
            </a:pPr>
            <a:r>
              <a:t>• Combining these metrics gives a more complete view than analyzing each metric separately.</a:t>
            </a:r>
          </a:p>
        </p:txBody>
      </p:sp>
      <p:sp>
        <p:nvSpPr>
          <p:cNvPr id="13" name="Rounded Rectangle 12"/>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 A food-delivery platform is both a commerce business and a service business. Payment convenience may influence conversion, while delivery reliability and service quality strongly influence satisfaction and repeat behavior.</a:t>
            </a:r>
          </a:p>
        </p:txBody>
      </p:sp>
      <p:sp>
        <p:nvSpPr>
          <p:cNvPr id="14" name="TextBox 13"/>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14. Management Decision Framework</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How decision-makers can use the dashboard</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325880"/>
            <a:ext cx="5166360" cy="10515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82880" tIns="128016" rtlCol="0" anchor="ctr"/>
          <a:lstStyle/>
          <a:p>
            <a:pPr algn="ctr">
              <a:defRPr sz="1400" b="1">
                <a:solidFill>
                  <a:srgbClr val="FF6600"/>
                </a:solidFill>
              </a:defRPr>
            </a:pPr>
            <a:r>
              <a:t>Marketing</a:t>
            </a:r>
          </a:p>
          <a:p>
            <a:pPr>
              <a:defRPr sz="1100">
                <a:solidFill>
                  <a:srgbClr val="122028"/>
                </a:solidFill>
              </a:defRPr>
            </a:pPr>
            <a:r>
              <a:t>Which city/cuisine should receive the next campaign?</a:t>
            </a:r>
          </a:p>
        </p:txBody>
      </p:sp>
      <p:sp>
        <p:nvSpPr>
          <p:cNvPr id="7" name="Rounded Rectangle 6"/>
          <p:cNvSpPr/>
          <p:nvPr/>
        </p:nvSpPr>
        <p:spPr>
          <a:xfrm>
            <a:off x="6172200" y="1325880"/>
            <a:ext cx="5166360" cy="10515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82880" tIns="128016" rtlCol="0" anchor="ctr"/>
          <a:lstStyle/>
          <a:p>
            <a:pPr algn="ctr">
              <a:defRPr sz="1400" b="1">
                <a:solidFill>
                  <a:srgbClr val="1F78B4"/>
                </a:solidFill>
              </a:defRPr>
            </a:pPr>
            <a:r>
              <a:t>Operations</a:t>
            </a:r>
          </a:p>
          <a:p>
            <a:pPr>
              <a:defRPr sz="1100">
                <a:solidFill>
                  <a:srgbClr val="122028"/>
                </a:solidFill>
              </a:defRPr>
            </a:pPr>
            <a:r>
              <a:t>Where should delivery capacity be improved?</a:t>
            </a:r>
          </a:p>
        </p:txBody>
      </p:sp>
      <p:sp>
        <p:nvSpPr>
          <p:cNvPr id="8" name="Rounded Rectangle 7"/>
          <p:cNvSpPr/>
          <p:nvPr/>
        </p:nvSpPr>
        <p:spPr>
          <a:xfrm>
            <a:off x="594360" y="2743200"/>
            <a:ext cx="5166360" cy="10515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82880" tIns="128016" rtlCol="0" anchor="ctr"/>
          <a:lstStyle/>
          <a:p>
            <a:pPr algn="ctr">
              <a:defRPr sz="1400" b="1">
                <a:solidFill>
                  <a:srgbClr val="1DA05A"/>
                </a:solidFill>
              </a:defRPr>
            </a:pPr>
            <a:r>
              <a:t>Customer Success</a:t>
            </a:r>
          </a:p>
          <a:p>
            <a:pPr>
              <a:defRPr sz="1100">
                <a:solidFill>
                  <a:srgbClr val="122028"/>
                </a:solidFill>
              </a:defRPr>
            </a:pPr>
            <a:r>
              <a:t>Which segments need retention actions?</a:t>
            </a:r>
          </a:p>
        </p:txBody>
      </p:sp>
      <p:sp>
        <p:nvSpPr>
          <p:cNvPr id="9" name="Rounded Rectangle 8"/>
          <p:cNvSpPr/>
          <p:nvPr/>
        </p:nvSpPr>
        <p:spPr>
          <a:xfrm>
            <a:off x="6172200" y="2743200"/>
            <a:ext cx="5166360" cy="10515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82880" tIns="128016" rtlCol="0" anchor="ctr"/>
          <a:lstStyle/>
          <a:p>
            <a:pPr algn="ctr">
              <a:defRPr sz="1400" b="1">
                <a:solidFill>
                  <a:srgbClr val="D2463C"/>
                </a:solidFill>
              </a:defRPr>
            </a:pPr>
            <a:r>
              <a:t>Partnerships</a:t>
            </a:r>
          </a:p>
          <a:p>
            <a:pPr>
              <a:defRPr sz="1100">
                <a:solidFill>
                  <a:srgbClr val="122028"/>
                </a:solidFill>
              </a:defRPr>
            </a:pPr>
            <a:r>
              <a:t>Which restaurants are strategic performers?</a:t>
            </a:r>
          </a:p>
        </p:txBody>
      </p:sp>
      <p:sp>
        <p:nvSpPr>
          <p:cNvPr id="10" name="Rounded Rectangle 9"/>
          <p:cNvSpPr/>
          <p:nvPr/>
        </p:nvSpPr>
        <p:spPr>
          <a:xfrm>
            <a:off x="594360" y="4160520"/>
            <a:ext cx="5166360" cy="10515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82880" tIns="128016" rtlCol="0" anchor="ctr"/>
          <a:lstStyle/>
          <a:p>
            <a:pPr algn="ctr">
              <a:defRPr sz="1400" b="1">
                <a:solidFill>
                  <a:srgbClr val="FF6600"/>
                </a:solidFill>
              </a:defRPr>
            </a:pPr>
            <a:r>
              <a:t>Finance</a:t>
            </a:r>
          </a:p>
          <a:p>
            <a:pPr>
              <a:defRPr sz="1100">
                <a:solidFill>
                  <a:srgbClr val="122028"/>
                </a:solidFill>
              </a:defRPr>
            </a:pPr>
            <a:r>
              <a:t>How are revenue and order trends changing?</a:t>
            </a:r>
          </a:p>
        </p:txBody>
      </p:sp>
      <p:sp>
        <p:nvSpPr>
          <p:cNvPr id="11" name="Rounded Rectangle 10"/>
          <p:cNvSpPr/>
          <p:nvPr/>
        </p:nvSpPr>
        <p:spPr>
          <a:xfrm>
            <a:off x="6172200" y="4160520"/>
            <a:ext cx="5166360" cy="1051560"/>
          </a:xfrm>
          <a:prstGeom prst="roundRect">
            <a:avLst/>
          </a:prstGeom>
          <a:solidFill>
            <a:srgbClr val="F5F7F9"/>
          </a:solidFill>
          <a:ln>
            <a:solidFill>
              <a:srgbClr val="E1E1E1"/>
            </a:solidFill>
          </a:ln>
        </p:spPr>
        <p:style>
          <a:lnRef idx="1">
            <a:schemeClr val="accent1"/>
          </a:lnRef>
          <a:fillRef idx="3">
            <a:schemeClr val="accent1"/>
          </a:fillRef>
          <a:effectRef idx="2">
            <a:schemeClr val="accent1"/>
          </a:effectRef>
          <a:fontRef idx="minor">
            <a:schemeClr val="lt1"/>
          </a:fontRef>
        </p:style>
        <p:txBody>
          <a:bodyPr lIns="182880" tIns="128016" rtlCol="0" anchor="ctr"/>
          <a:lstStyle/>
          <a:p>
            <a:pPr algn="ctr">
              <a:defRPr sz="1400" b="1">
                <a:solidFill>
                  <a:srgbClr val="1F78B4"/>
                </a:solidFill>
              </a:defRPr>
            </a:pPr>
            <a:r>
              <a:t>Strategy</a:t>
            </a:r>
          </a:p>
          <a:p>
            <a:pPr>
              <a:defRPr sz="1100">
                <a:solidFill>
                  <a:srgbClr val="122028"/>
                </a:solidFill>
              </a:defRPr>
            </a:pPr>
            <a:r>
              <a:t>Which locations show long-term growth potential?</a:t>
            </a:r>
          </a:p>
        </p:txBody>
      </p:sp>
      <p:sp>
        <p:nvSpPr>
          <p:cNvPr id="12" name="Rounded Rectangle 11"/>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 The dashboard becomes valuable when every visual answers a business question. Different teams can use the same data for different decisions, creating a common analytical language across marketing, operations, finance and strategy.</a:t>
            </a:r>
          </a:p>
        </p:txBody>
      </p:sp>
      <p:sp>
        <p:nvSpPr>
          <p:cNvPr id="13" name="TextBox 12"/>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15. Current Limitations &amp; Improvement Areas</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What can be improved in the present Excel solution</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607040" cy="4297680"/>
          </a:xfrm>
          <a:prstGeom prst="rect">
            <a:avLst/>
          </a:prstGeom>
          <a:noFill/>
        </p:spPr>
        <p:txBody>
          <a:bodyPr wrap="square">
            <a:spAutoFit/>
          </a:bodyPr>
          <a:lstStyle/>
          <a:p>
            <a:pPr>
              <a:spcAft>
                <a:spcPts val="900"/>
              </a:spcAft>
              <a:defRPr sz="1450">
                <a:solidFill>
                  <a:srgbClr val="122028"/>
                </a:solidFill>
                <a:latin typeface="Aptos"/>
              </a:defRPr>
            </a:pPr>
            <a:r>
              <a:t>• Excel is highly useful for descriptive and diagnostic analytics, but it is less suitable for very large real-time datasets.</a:t>
            </a:r>
          </a:p>
          <a:p>
            <a:pPr>
              <a:spcAft>
                <a:spcPts val="900"/>
              </a:spcAft>
              <a:defRPr sz="1450">
                <a:solidFill>
                  <a:srgbClr val="122028"/>
                </a:solidFill>
                <a:latin typeface="Aptos"/>
              </a:defRPr>
            </a:pPr>
            <a:r>
              <a:t>• The current dashboard mainly explains what happened; it does not yet predict future demand automatically.</a:t>
            </a:r>
          </a:p>
          <a:p>
            <a:pPr>
              <a:spcAft>
                <a:spcPts val="900"/>
              </a:spcAft>
              <a:defRPr sz="1450">
                <a:solidFill>
                  <a:srgbClr val="122028"/>
                </a:solidFill>
                <a:latin typeface="Aptos"/>
              </a:defRPr>
            </a:pPr>
            <a:r>
              <a:t>• Real-time delivery tracking and live customer behavior are outside the current static workbook workflow.</a:t>
            </a:r>
          </a:p>
          <a:p>
            <a:pPr>
              <a:spcAft>
                <a:spcPts val="900"/>
              </a:spcAft>
              <a:defRPr sz="1450">
                <a:solidFill>
                  <a:srgbClr val="122028"/>
                </a:solidFill>
                <a:latin typeface="Aptos"/>
              </a:defRPr>
            </a:pPr>
            <a:r>
              <a:t>• Advanced statistical testing, machine learning and automated alerts can further improve decision support.</a:t>
            </a:r>
          </a:p>
          <a:p>
            <a:pPr>
              <a:spcAft>
                <a:spcPts val="900"/>
              </a:spcAft>
              <a:defRPr sz="1450">
                <a:solidFill>
                  <a:srgbClr val="122028"/>
                </a:solidFill>
                <a:latin typeface="Aptos"/>
              </a:defRPr>
            </a:pPr>
            <a:r>
              <a:t>• A centralized database or cloud platform would improve scalability as data volume grows.</a:t>
            </a:r>
          </a:p>
        </p:txBody>
      </p:sp>
      <p:sp>
        <p:nvSpPr>
          <p:cNvPr id="7" name="Rounded Rectangle 6"/>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 Recognizing limitations is important in a top-level project presentation. The current solution is strong for structured reporting and business analysis, while the next stage is to add automation, predictive analytics, real-time data and scalable architecture.</a:t>
            </a:r>
          </a:p>
        </p:txBody>
      </p:sp>
      <p:sp>
        <p:nvSpPr>
          <p:cNvPr id="8" name="TextBox 7"/>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16. Future Scope</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How this project can evolve into an advanced analytics platform</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234440"/>
            <a:ext cx="5166360" cy="1188720"/>
          </a:xfrm>
          <a:prstGeom prst="roundRect">
            <a:avLst/>
          </a:prstGeom>
          <a:solidFill>
            <a:srgbClr val="FFF8F1"/>
          </a:solidFill>
          <a:ln>
            <a:solidFill>
              <a:srgbClr val="EBD2BE"/>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400" b="1">
                <a:solidFill>
                  <a:srgbClr val="FF6600"/>
                </a:solidFill>
              </a:defRPr>
            </a:pPr>
            <a:r>
              <a:t>Real-Time Dashboard</a:t>
            </a:r>
          </a:p>
          <a:p>
            <a:pPr>
              <a:defRPr sz="1050">
                <a:solidFill>
                  <a:srgbClr val="122028"/>
                </a:solidFill>
              </a:defRPr>
            </a:pPr>
            <a:r>
              <a:t>Connect live order and delivery data using APIs or streaming pipelines.</a:t>
            </a:r>
          </a:p>
        </p:txBody>
      </p:sp>
      <p:sp>
        <p:nvSpPr>
          <p:cNvPr id="7" name="Rounded Rectangle 6"/>
          <p:cNvSpPr/>
          <p:nvPr/>
        </p:nvSpPr>
        <p:spPr>
          <a:xfrm>
            <a:off x="6172200" y="1234440"/>
            <a:ext cx="5166360" cy="1188720"/>
          </a:xfrm>
          <a:prstGeom prst="roundRect">
            <a:avLst/>
          </a:prstGeom>
          <a:solidFill>
            <a:srgbClr val="F5F7F9"/>
          </a:solidFill>
          <a:ln>
            <a:solidFill>
              <a:srgbClr val="EBD2BE"/>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400" b="1">
                <a:solidFill>
                  <a:srgbClr val="FF6600"/>
                </a:solidFill>
              </a:defRPr>
            </a:pPr>
            <a:r>
              <a:t>Demand Forecasting</a:t>
            </a:r>
          </a:p>
          <a:p>
            <a:pPr>
              <a:defRPr sz="1050">
                <a:solidFill>
                  <a:srgbClr val="122028"/>
                </a:solidFill>
              </a:defRPr>
            </a:pPr>
            <a:r>
              <a:t>Use time-series or ML models to predict future orders by city and cuisine.</a:t>
            </a:r>
          </a:p>
        </p:txBody>
      </p:sp>
      <p:sp>
        <p:nvSpPr>
          <p:cNvPr id="8" name="Rounded Rectangle 7"/>
          <p:cNvSpPr/>
          <p:nvPr/>
        </p:nvSpPr>
        <p:spPr>
          <a:xfrm>
            <a:off x="594360" y="2743200"/>
            <a:ext cx="5166360" cy="1188720"/>
          </a:xfrm>
          <a:prstGeom prst="roundRect">
            <a:avLst/>
          </a:prstGeom>
          <a:solidFill>
            <a:srgbClr val="FFF8F1"/>
          </a:solidFill>
          <a:ln>
            <a:solidFill>
              <a:srgbClr val="EBD2BE"/>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400" b="1">
                <a:solidFill>
                  <a:srgbClr val="FF6600"/>
                </a:solidFill>
              </a:defRPr>
            </a:pPr>
            <a:r>
              <a:t>Customer Churn Prediction</a:t>
            </a:r>
          </a:p>
          <a:p>
            <a:pPr>
              <a:defRPr sz="1050">
                <a:solidFill>
                  <a:srgbClr val="122028"/>
                </a:solidFill>
              </a:defRPr>
            </a:pPr>
            <a:r>
              <a:t>Identify customers likely to stop ordering and trigger retention actions.</a:t>
            </a:r>
          </a:p>
        </p:txBody>
      </p:sp>
      <p:sp>
        <p:nvSpPr>
          <p:cNvPr id="9" name="Rounded Rectangle 8"/>
          <p:cNvSpPr/>
          <p:nvPr/>
        </p:nvSpPr>
        <p:spPr>
          <a:xfrm>
            <a:off x="6172200" y="2743200"/>
            <a:ext cx="5166360" cy="1188720"/>
          </a:xfrm>
          <a:prstGeom prst="roundRect">
            <a:avLst/>
          </a:prstGeom>
          <a:solidFill>
            <a:srgbClr val="F5F7F9"/>
          </a:solidFill>
          <a:ln>
            <a:solidFill>
              <a:srgbClr val="EBD2BE"/>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400" b="1">
                <a:solidFill>
                  <a:srgbClr val="FF6600"/>
                </a:solidFill>
              </a:defRPr>
            </a:pPr>
            <a:r>
              <a:t>Recommendation Engine</a:t>
            </a:r>
          </a:p>
          <a:p>
            <a:pPr>
              <a:defRPr sz="1050">
                <a:solidFill>
                  <a:srgbClr val="122028"/>
                </a:solidFill>
              </a:defRPr>
            </a:pPr>
            <a:r>
              <a:t>Recommend food, restaurants and offers based on customer behavior.</a:t>
            </a:r>
          </a:p>
        </p:txBody>
      </p:sp>
      <p:sp>
        <p:nvSpPr>
          <p:cNvPr id="10" name="Rounded Rectangle 9"/>
          <p:cNvSpPr/>
          <p:nvPr/>
        </p:nvSpPr>
        <p:spPr>
          <a:xfrm>
            <a:off x="594360" y="4251960"/>
            <a:ext cx="5166360" cy="1188720"/>
          </a:xfrm>
          <a:prstGeom prst="roundRect">
            <a:avLst/>
          </a:prstGeom>
          <a:solidFill>
            <a:srgbClr val="FFF8F1"/>
          </a:solidFill>
          <a:ln>
            <a:solidFill>
              <a:srgbClr val="EBD2BE"/>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400" b="1">
                <a:solidFill>
                  <a:srgbClr val="FF6600"/>
                </a:solidFill>
              </a:defRPr>
            </a:pPr>
            <a:r>
              <a:t>Route Optimization</a:t>
            </a:r>
          </a:p>
          <a:p>
            <a:pPr>
              <a:defRPr sz="1050">
                <a:solidFill>
                  <a:srgbClr val="122028"/>
                </a:solidFill>
              </a:defRPr>
            </a:pPr>
            <a:r>
              <a:t>Use geospatial and optimization techniques to reduce delivery time.</a:t>
            </a:r>
          </a:p>
        </p:txBody>
      </p:sp>
      <p:sp>
        <p:nvSpPr>
          <p:cNvPr id="11" name="Rounded Rectangle 10"/>
          <p:cNvSpPr/>
          <p:nvPr/>
        </p:nvSpPr>
        <p:spPr>
          <a:xfrm>
            <a:off x="6172200" y="4251960"/>
            <a:ext cx="5166360" cy="1188720"/>
          </a:xfrm>
          <a:prstGeom prst="roundRect">
            <a:avLst/>
          </a:prstGeom>
          <a:solidFill>
            <a:srgbClr val="F5F7F9"/>
          </a:solidFill>
          <a:ln>
            <a:solidFill>
              <a:srgbClr val="EBD2BE"/>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400" b="1">
                <a:solidFill>
                  <a:srgbClr val="FF6600"/>
                </a:solidFill>
              </a:defRPr>
            </a:pPr>
            <a:r>
              <a:t>Cloud &amp; Automation</a:t>
            </a:r>
          </a:p>
          <a:p>
            <a:pPr>
              <a:defRPr sz="1050">
                <a:solidFill>
                  <a:srgbClr val="122028"/>
                </a:solidFill>
              </a:defRPr>
            </a:pPr>
            <a:r>
              <a:t>Move data to a scalable database and automate refresh, alerts and reporting.</a:t>
            </a:r>
          </a:p>
        </p:txBody>
      </p:sp>
      <p:sp>
        <p:nvSpPr>
          <p:cNvPr id="12" name="Rounded Rectangle 11"/>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The future scope is to transform the current descriptive dashboard into a predictive and eventually prescriptive platform. Forecasting, personalization, route optimization, real-time monitoring and cloud automation can create measurable business value beyond reporting.</a:t>
            </a:r>
          </a:p>
        </p:txBody>
      </p:sp>
      <p:sp>
        <p:nvSpPr>
          <p:cNvPr id="13" name="TextBox 12"/>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972800" cy="502920"/>
          </a:xfrm>
          <a:prstGeom prst="rect">
            <a:avLst/>
          </a:prstGeom>
          <a:noFill/>
        </p:spPr>
        <p:txBody>
          <a:bodyPr wrap="none">
            <a:spAutoFit/>
          </a:bodyPr>
          <a:lstStyle/>
          <a:p>
            <a:pPr>
              <a:defRPr sz="2600" b="1">
                <a:solidFill>
                  <a:srgbClr val="122028"/>
                </a:solidFill>
                <a:latin typeface="Aptos Display"/>
              </a:defRPr>
            </a:pPr>
            <a:r>
              <a:t>17. Proposed Future Architecture</a:t>
            </a:r>
          </a:p>
        </p:txBody>
      </p:sp>
      <p:sp>
        <p:nvSpPr>
          <p:cNvPr id="4" name="TextBox 3"/>
          <p:cNvSpPr txBox="1"/>
          <p:nvPr/>
        </p:nvSpPr>
        <p:spPr>
          <a:xfrm>
            <a:off x="521207" y="713232"/>
            <a:ext cx="10789920" cy="320040"/>
          </a:xfrm>
          <a:prstGeom prst="rect">
            <a:avLst/>
          </a:prstGeom>
          <a:noFill/>
        </p:spPr>
        <p:txBody>
          <a:bodyPr wrap="none">
            <a:spAutoFit/>
          </a:bodyPr>
          <a:lstStyle/>
          <a:p>
            <a:pPr>
              <a:defRPr sz="1050">
                <a:solidFill>
                  <a:srgbClr val="5F6970"/>
                </a:solidFill>
                <a:latin typeface="Aptos"/>
              </a:defRPr>
            </a:pPr>
            <a:r>
              <a:t>From Excel dashboard to scalable analytics platform</a:t>
            </a:r>
          </a:p>
        </p:txBody>
      </p:sp>
      <p:sp>
        <p:nvSpPr>
          <p:cNvPr id="5" name="Rectangle 4"/>
          <p:cNvSpPr/>
          <p:nvPr/>
        </p:nvSpPr>
        <p:spPr>
          <a:xfrm>
            <a:off x="502920" y="987552"/>
            <a:ext cx="1005840" cy="50292"/>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51560" y="1234440"/>
            <a:ext cx="10058400" cy="658368"/>
          </a:xfrm>
          <a:prstGeom prst="roundRect">
            <a:avLst/>
          </a:prstGeom>
          <a:solidFill>
            <a:srgbClr val="1F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Data Sources:  Orders • Customers • Restaurants • Payments • GPS • App events</a:t>
            </a:r>
          </a:p>
        </p:txBody>
      </p:sp>
      <p:sp>
        <p:nvSpPr>
          <p:cNvPr id="7" name="Rounded Rectangle 6"/>
          <p:cNvSpPr/>
          <p:nvPr/>
        </p:nvSpPr>
        <p:spPr>
          <a:xfrm>
            <a:off x="1051560" y="2148840"/>
            <a:ext cx="10058400" cy="658368"/>
          </a:xfrm>
          <a:prstGeom prst="roundRect">
            <a:avLst/>
          </a:prstGeom>
          <a:solidFill>
            <a:srgbClr val="1F7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Data Platform:  SQL / Cloud Database • ETL • Data Quality • Historical Storage</a:t>
            </a:r>
          </a:p>
        </p:txBody>
      </p:sp>
      <p:sp>
        <p:nvSpPr>
          <p:cNvPr id="8" name="Rounded Rectangle 7"/>
          <p:cNvSpPr/>
          <p:nvPr/>
        </p:nvSpPr>
        <p:spPr>
          <a:xfrm>
            <a:off x="1051560" y="3063240"/>
            <a:ext cx="10058400" cy="658368"/>
          </a:xfrm>
          <a:prstGeom prst="roundRect">
            <a:avLst/>
          </a:prstGeom>
          <a:solidFill>
            <a:srgbClr val="1DA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Analytics &amp; AI:  Forecasting • Segmentation • Recommendations • Churn • Optimization</a:t>
            </a:r>
          </a:p>
        </p:txBody>
      </p:sp>
      <p:sp>
        <p:nvSpPr>
          <p:cNvPr id="9" name="Rounded Rectangle 8"/>
          <p:cNvSpPr/>
          <p:nvPr/>
        </p:nvSpPr>
        <p:spPr>
          <a:xfrm>
            <a:off x="1051560" y="3977639"/>
            <a:ext cx="10058400" cy="658368"/>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Visualization:  Power BI / Web Dashboard • Alerts • Executive KPIs</a:t>
            </a:r>
          </a:p>
        </p:txBody>
      </p:sp>
      <p:sp>
        <p:nvSpPr>
          <p:cNvPr id="10" name="Rounded Rectangle 9"/>
          <p:cNvSpPr/>
          <p:nvPr/>
        </p:nvSpPr>
        <p:spPr>
          <a:xfrm>
            <a:off x="1051560" y="4892040"/>
            <a:ext cx="10058400" cy="658368"/>
          </a:xfrm>
          <a:prstGeom prst="roundRect">
            <a:avLst/>
          </a:prstGeom>
          <a:solidFill>
            <a:srgbClr val="D24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Business Actions:  Marketing • Delivery Operations • Partner Management • Customer Retention</a:t>
            </a:r>
          </a:p>
        </p:txBody>
      </p:sp>
      <p:sp>
        <p:nvSpPr>
          <p:cNvPr id="11" name="Rounded Rectangle 10"/>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 A future production system could combine multiple data sources, a centralized data platform, machine-learning models and a modern BI layer. The final objective would be a closed loop where data produces insights and insights directly support business actions.</a:t>
            </a:r>
          </a:p>
        </p:txBody>
      </p:sp>
      <p:sp>
        <p:nvSpPr>
          <p:cNvPr id="12" name="TextBox 11"/>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051560"/>
            <a:ext cx="10607040" cy="1005840"/>
          </a:xfrm>
          <a:prstGeom prst="rect">
            <a:avLst/>
          </a:prstGeom>
          <a:noFill/>
        </p:spPr>
        <p:txBody>
          <a:bodyPr wrap="none">
            <a:spAutoFit/>
          </a:bodyPr>
          <a:lstStyle/>
          <a:p>
            <a:pPr>
              <a:defRPr sz="3400" b="1">
                <a:solidFill>
                  <a:srgbClr val="FFFFFF"/>
                </a:solidFill>
              </a:defRPr>
            </a:pPr>
            <a:r>
              <a:t>Conclusion</a:t>
            </a:r>
          </a:p>
        </p:txBody>
      </p:sp>
      <p:sp>
        <p:nvSpPr>
          <p:cNvPr id="4" name="TextBox 3"/>
          <p:cNvSpPr txBox="1"/>
          <p:nvPr/>
        </p:nvSpPr>
        <p:spPr>
          <a:xfrm>
            <a:off x="960120" y="2011680"/>
            <a:ext cx="9966960" cy="2926080"/>
          </a:xfrm>
          <a:prstGeom prst="rect">
            <a:avLst/>
          </a:prstGeom>
          <a:noFill/>
        </p:spPr>
        <p:txBody>
          <a:bodyPr wrap="square">
            <a:spAutoFit/>
          </a:bodyPr>
          <a:lstStyle/>
          <a:p>
            <a:pPr>
              <a:spcAft>
                <a:spcPts val="1000"/>
              </a:spcAft>
              <a:defRPr sz="1800">
                <a:solidFill>
                  <a:srgbClr val="FFFFFF"/>
                </a:solidFill>
              </a:defRPr>
            </a:pPr>
            <a:r>
              <a:t>• The Excel dashboard provides a consolidated view of food-delivery performance.</a:t>
            </a:r>
          </a:p>
          <a:p>
            <a:pPr>
              <a:spcAft>
                <a:spcPts val="1000"/>
              </a:spcAft>
              <a:defRPr sz="1800">
                <a:solidFill>
                  <a:srgbClr val="FFFFFF"/>
                </a:solidFill>
              </a:defRPr>
            </a:pPr>
            <a:r>
              <a:t>• It combines descriptive analytics with business-focused KPIs.</a:t>
            </a:r>
          </a:p>
          <a:p>
            <a:pPr>
              <a:spcAft>
                <a:spcPts val="1000"/>
              </a:spcAft>
              <a:defRPr sz="1800">
                <a:solidFill>
                  <a:srgbClr val="FFFFFF"/>
                </a:solidFill>
              </a:defRPr>
            </a:pPr>
            <a:r>
              <a:t>• The analysis highlights demand leaders, customer behavior and operational gaps.</a:t>
            </a:r>
          </a:p>
          <a:p>
            <a:pPr>
              <a:spcAft>
                <a:spcPts val="1000"/>
              </a:spcAft>
              <a:defRPr sz="1800">
                <a:solidFill>
                  <a:srgbClr val="FFFFFF"/>
                </a:solidFill>
              </a:defRPr>
            </a:pPr>
            <a:r>
              <a:t>• The same structure can be refreshed with new data for ongoing decision-making.</a:t>
            </a:r>
          </a:p>
        </p:txBody>
      </p:sp>
      <p:sp>
        <p:nvSpPr>
          <p:cNvPr id="6" name="Rounded Rectangle 5"/>
          <p:cNvSpPr/>
          <p:nvPr/>
        </p:nvSpPr>
        <p:spPr>
          <a:xfrm>
            <a:off x="411480" y="5925312"/>
            <a:ext cx="11384280" cy="713232"/>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b="0">
                <a:solidFill>
                  <a:srgbClr val="122028"/>
                </a:solidFill>
                <a:latin typeface="Aptos"/>
              </a:defRPr>
            </a:pPr>
            <a:r>
              <a:rPr dirty="0"/>
              <a:t> The overall conclusion is that Excel can be used to build a practical analytics solution when the data is properly organized and the visuals are designed around business questions. The same dashboard framework can be refreshed with new records and gradually upgraded with automation, advanced analytics and predictive models.</a:t>
            </a:r>
          </a:p>
        </p:txBody>
      </p:sp>
      <p:sp>
        <p:nvSpPr>
          <p:cNvPr id="7" name="TextBox 6"/>
          <p:cNvSpPr txBox="1"/>
          <p:nvPr/>
        </p:nvSpPr>
        <p:spPr>
          <a:xfrm>
            <a:off x="11384280" y="228600"/>
            <a:ext cx="274320" cy="228600"/>
          </a:xfrm>
          <a:prstGeom prst="rect">
            <a:avLst/>
          </a:prstGeom>
          <a:noFill/>
        </p:spPr>
        <p:txBody>
          <a:bodyPr wrap="none">
            <a:spAutoFit/>
          </a:bodyPr>
          <a:lstStyle/>
          <a:p>
            <a:pPr algn="r">
              <a:defRPr sz="1000">
                <a:solidFill>
                  <a:srgbClr val="646C72"/>
                </a:solidFill>
              </a:defRPr>
            </a:pPr>
            <a:r>
              <a:t>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051560"/>
            <a:ext cx="10515600" cy="914400"/>
          </a:xfrm>
          <a:prstGeom prst="rect">
            <a:avLst/>
          </a:prstGeom>
          <a:noFill/>
        </p:spPr>
        <p:txBody>
          <a:bodyPr wrap="none">
            <a:spAutoFit/>
          </a:bodyPr>
          <a:lstStyle/>
          <a:p>
            <a:pPr>
              <a:defRPr sz="3400" b="1">
                <a:solidFill>
                  <a:srgbClr val="FFFFFF"/>
                </a:solidFill>
              </a:defRPr>
            </a:pPr>
            <a:r>
              <a:t>Final Takeaway</a:t>
            </a:r>
          </a:p>
        </p:txBody>
      </p:sp>
      <p:sp>
        <p:nvSpPr>
          <p:cNvPr id="5" name="TextBox 4"/>
          <p:cNvSpPr txBox="1"/>
          <p:nvPr/>
        </p:nvSpPr>
        <p:spPr>
          <a:xfrm>
            <a:off x="868680" y="1874519"/>
            <a:ext cx="10241280" cy="3063240"/>
          </a:xfrm>
          <a:prstGeom prst="rect">
            <a:avLst/>
          </a:prstGeom>
          <a:noFill/>
        </p:spPr>
        <p:txBody>
          <a:bodyPr wrap="square">
            <a:spAutoFit/>
          </a:bodyPr>
          <a:lstStyle/>
          <a:p>
            <a:pPr>
              <a:spcAft>
                <a:spcPts val="900"/>
              </a:spcAft>
              <a:defRPr sz="1600">
                <a:solidFill>
                  <a:srgbClr val="FFFFFF"/>
                </a:solidFill>
                <a:latin typeface="Aptos"/>
              </a:defRPr>
            </a:pPr>
            <a:r>
              <a:t>• The project demonstrates practical business analytics using Excel.</a:t>
            </a:r>
          </a:p>
          <a:p>
            <a:pPr>
              <a:spcAft>
                <a:spcPts val="900"/>
              </a:spcAft>
              <a:defRPr sz="1600">
                <a:solidFill>
                  <a:srgbClr val="FFFFFF"/>
                </a:solidFill>
                <a:latin typeface="Aptos"/>
              </a:defRPr>
            </a:pPr>
            <a:r>
              <a:t>• The dashboard converts 100,000+ order records into understandable KPIs and visual insights.</a:t>
            </a:r>
          </a:p>
          <a:p>
            <a:pPr>
              <a:spcAft>
                <a:spcPts val="900"/>
              </a:spcAft>
              <a:defRPr sz="1600">
                <a:solidFill>
                  <a:srgbClr val="FFFFFF"/>
                </a:solidFill>
                <a:latin typeface="Aptos"/>
              </a:defRPr>
            </a:pPr>
            <a:r>
              <a:t>• It supports decisions across marketing, operations, customer retention and restaurant partnerships.</a:t>
            </a:r>
          </a:p>
          <a:p>
            <a:pPr>
              <a:spcAft>
                <a:spcPts val="900"/>
              </a:spcAft>
              <a:defRPr sz="1600">
                <a:solidFill>
                  <a:srgbClr val="FFFFFF"/>
                </a:solidFill>
                <a:latin typeface="Aptos"/>
              </a:defRPr>
            </a:pPr>
            <a:r>
              <a:t>• The future roadmap adds forecasting, AI/ML, real-time data, geospatial optimization and automation.</a:t>
            </a:r>
          </a:p>
          <a:p>
            <a:pPr>
              <a:spcAft>
                <a:spcPts val="900"/>
              </a:spcAft>
              <a:defRPr sz="1600">
                <a:solidFill>
                  <a:srgbClr val="FFFFFF"/>
                </a:solidFill>
                <a:latin typeface="Aptos"/>
              </a:defRPr>
            </a:pPr>
            <a:r>
              <a:t>• This project can therefore serve as a foundation for a larger food-delivery analytics platform.</a:t>
            </a:r>
          </a:p>
        </p:txBody>
      </p:sp>
      <p:sp>
        <p:nvSpPr>
          <p:cNvPr id="6" name="Rounded Rectangle 5"/>
          <p:cNvSpPr/>
          <p:nvPr/>
        </p:nvSpPr>
        <p:spPr>
          <a:xfrm>
            <a:off x="3017520" y="4983480"/>
            <a:ext cx="6172200" cy="59436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Thank You  •  Questions &amp; Discussion</a:t>
            </a:r>
          </a:p>
        </p:txBody>
      </p:sp>
      <p:sp>
        <p:nvSpPr>
          <p:cNvPr id="7" name="Rounded Rectangle 6"/>
          <p:cNvSpPr/>
          <p:nvPr/>
        </p:nvSpPr>
        <p:spPr>
          <a:xfrm>
            <a:off x="411480" y="5870448"/>
            <a:ext cx="11384280" cy="768096"/>
          </a:xfrm>
          <a:prstGeom prst="roundRect">
            <a:avLst/>
          </a:prstGeom>
          <a:solidFill>
            <a:srgbClr val="FFF8F1"/>
          </a:solidFill>
          <a:ln>
            <a:solidFill>
              <a:srgbClr val="F5BE96"/>
            </a:solidFill>
          </a:ln>
        </p:spPr>
        <p:style>
          <a:lnRef idx="1">
            <a:schemeClr val="accent1"/>
          </a:lnRef>
          <a:fillRef idx="3">
            <a:schemeClr val="accent1"/>
          </a:fillRef>
          <a:effectRef idx="2">
            <a:schemeClr val="accent1"/>
          </a:effectRef>
          <a:fontRef idx="minor">
            <a:schemeClr val="lt1"/>
          </a:fontRef>
        </p:style>
        <p:txBody>
          <a:bodyPr lIns="164592" tIns="73152" rIns="137160" rtlCol="0" anchor="ctr"/>
          <a:lstStyle/>
          <a:p>
            <a:pPr algn="ctr">
              <a:defRPr sz="950">
                <a:solidFill>
                  <a:srgbClr val="122028"/>
                </a:solidFill>
                <a:latin typeface="Aptos"/>
              </a:defRPr>
            </a:pPr>
            <a:r>
              <a:rPr dirty="0"/>
              <a:t> This final slide summarizes the project as an end-to-end analytics solution and opens the presentation for questions. During the Q&amp;A, focus on your contribution, the dashboard logic, the business insights and the future scope.</a:t>
            </a:r>
          </a:p>
        </p:txBody>
      </p:sp>
      <p:sp>
        <p:nvSpPr>
          <p:cNvPr id="8" name="TextBox 7"/>
          <p:cNvSpPr txBox="1"/>
          <p:nvPr/>
        </p:nvSpPr>
        <p:spPr>
          <a:xfrm>
            <a:off x="11384280" y="201168"/>
            <a:ext cx="320040" cy="274320"/>
          </a:xfrm>
          <a:prstGeom prst="rect">
            <a:avLst/>
          </a:prstGeom>
          <a:noFill/>
        </p:spPr>
        <p:txBody>
          <a:bodyPr wrap="none">
            <a:spAutoFit/>
          </a:bodyPr>
          <a:lstStyle/>
          <a:p>
            <a:pPr algn="r">
              <a:defRPr sz="1000">
                <a:solidFill>
                  <a:srgbClr val="5F6970"/>
                </a:solidFill>
              </a:defRPr>
            </a:pPr>
            <a:r>
              <a:t>20</a:t>
            </a:r>
          </a:p>
        </p:txBody>
      </p:sp>
      <p:pic>
        <p:nvPicPr>
          <p:cNvPr id="10" name="Picture 9">
            <a:extLst>
              <a:ext uri="{FF2B5EF4-FFF2-40B4-BE49-F238E27FC236}">
                <a16:creationId xmlns:a16="http://schemas.microsoft.com/office/drawing/2014/main" id="{0C33070A-FDBB-D12A-DA4C-F4143A82E03A}"/>
              </a:ext>
            </a:extLst>
          </p:cNvPr>
          <p:cNvPicPr>
            <a:picLocks noChangeAspect="1"/>
          </p:cNvPicPr>
          <p:nvPr/>
        </p:nvPicPr>
        <p:blipFill>
          <a:blip r:embed="rId2"/>
          <a:stretch>
            <a:fillRect/>
          </a:stretch>
        </p:blipFill>
        <p:spPr>
          <a:xfrm>
            <a:off x="9421749" y="254251"/>
            <a:ext cx="2374011" cy="9907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2300</Words>
  <Application>Microsoft Office PowerPoint</Application>
  <PresentationFormat>Widescreen</PresentationFormat>
  <Paragraphs>284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Delivery &amp; Customer Analytics Platform - Top Level Presentation</dc:title>
  <dc:subject>20-slide professional project presentation</dc:subject>
  <dc:creator>Soumya Roy</dc:creator>
  <cp:keywords>Food Delivery, Customer Analytics, Excel, Dashboard, KPI, Future Scope, AI, ML</cp:keywords>
  <dc:description>generated using python-pptx</dc:description>
  <cp:lastModifiedBy>Soumya Roy</cp:lastModifiedBy>
  <cp:revision>2</cp:revision>
  <dcterms:created xsi:type="dcterms:W3CDTF">2013-01-27T09:14:16Z</dcterms:created>
  <dcterms:modified xsi:type="dcterms:W3CDTF">2026-10-05T01:56:25Z</dcterms:modified>
  <cp:category/>
</cp:coreProperties>
</file>